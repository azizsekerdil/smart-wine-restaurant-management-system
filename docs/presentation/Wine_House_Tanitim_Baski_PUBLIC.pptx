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</p:sldIdLst>
  <p:sldSz cx="1219196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8A63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223760" y="-1097280"/>
            <a:ext cx="6400800" cy="9144000"/>
          </a:xfrm>
          <a:prstGeom prst="rect">
            <a:avLst/>
          </a:prstGeom>
          <a:solidFill>
            <a:srgbClr val="EFE7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1965960"/>
            <a:ext cx="658368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6000" b="1">
                <a:solidFill>
                  <a:srgbClr val="8A6320"/>
                </a:solidFill>
                <a:latin typeface="DejaVu Sans"/>
              </a:rPr>
              <a:t>Wine House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3154680"/>
            <a:ext cx="64008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100" b="0">
                <a:solidFill>
                  <a:srgbClr val="23181C"/>
                </a:solidFill>
                <a:latin typeface="DejaVu Sans"/>
              </a:rPr>
              <a:t>Akıllı Şarap Restoranı Yönetim Sistemi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6400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6B5C62"/>
                </a:solidFill>
                <a:latin typeface="DejaVu Sans"/>
              </a:rPr>
              <a:t>Yerel çalışan · çevrimdışı dayanıklı · rol tabanlı</a:t>
            </a:r>
          </a:p>
        </p:txBody>
      </p:sp>
      <p:sp>
        <p:nvSpPr>
          <p:cNvPr id="7" name="Rectangle 6"/>
          <p:cNvSpPr/>
          <p:nvPr/>
        </p:nvSpPr>
        <p:spPr>
          <a:xfrm>
            <a:off x="1005840" y="4709160"/>
            <a:ext cx="2011680" cy="38100"/>
          </a:xfrm>
          <a:prstGeom prst="rect">
            <a:avLst/>
          </a:prstGeom>
          <a:solidFill>
            <a:srgbClr val="8A63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4983480"/>
            <a:ext cx="6400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6B5C62"/>
                </a:solidFill>
                <a:latin typeface="DejaVu Sans"/>
              </a:rPr>
              <a:t>Sürüm 0.1.0 · Tanıtım Sunumu ·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6327648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6B5C62"/>
                </a:solidFill>
                <a:latin typeface="DejaVu Sans"/>
              </a:rPr>
              <a:t>Wine House · Aziz Şekerdil · 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424160" y="6327648"/>
            <a:ext cx="9601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>
                <a:solidFill>
                  <a:srgbClr val="6B5C62"/>
                </a:solidFill>
                <a:latin typeface="DejaVu Sans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66928"/>
            <a:ext cx="106070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23181C"/>
                </a:solidFill>
                <a:latin typeface="DejaVu Sans"/>
              </a:rPr>
              <a:t>Bir bakışta</a:t>
            </a:r>
          </a:p>
          <a:p>
            <a:pPr algn="l">
              <a:spcAft>
                <a:spcPts val="0"/>
              </a:spcAft>
            </a:pPr>
            <a:r>
              <a:rPr sz="1400" b="0">
                <a:solidFill>
                  <a:srgbClr val="6B5C62"/>
                </a:solidFill>
                <a:latin typeface="DejaVu Sans"/>
              </a:rPr>
              <a:t>Ölçülmüş, test edilmiş, çalışan sistem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572768"/>
            <a:ext cx="1371600" cy="38100"/>
          </a:xfrm>
          <a:prstGeom prst="rect">
            <a:avLst/>
          </a:prstGeom>
          <a:solidFill>
            <a:srgbClr val="8A63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77240" y="2011680"/>
            <a:ext cx="2450591" cy="1508760"/>
          </a:xfrm>
          <a:prstGeom prst="roundRect">
            <a:avLst>
              <a:gd name="adj" fmla="val 6000"/>
            </a:avLst>
          </a:prstGeom>
          <a:solidFill>
            <a:srgbClr val="F7F3F4"/>
          </a:solidFill>
          <a:ln w="12700">
            <a:solidFill>
              <a:srgbClr val="D9CC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77240" y="2011680"/>
            <a:ext cx="50800" cy="1508760"/>
          </a:xfrm>
          <a:prstGeom prst="rect">
            <a:avLst/>
          </a:prstGeom>
          <a:solidFill>
            <a:srgbClr val="8A63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96695" y="2194560"/>
            <a:ext cx="2084831" cy="123443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8A6320"/>
                </a:solidFill>
                <a:latin typeface="DejaVu Sans"/>
              </a:rPr>
              <a:t>16</a:t>
            </a:r>
          </a:p>
          <a:p>
            <a:pPr algn="l">
              <a:spcAft>
                <a:spcPts val="0"/>
              </a:spcAft>
            </a:pPr>
            <a:r>
              <a:rPr sz="1100" b="0">
                <a:solidFill>
                  <a:srgbClr val="6B5C62"/>
                </a:solidFill>
                <a:latin typeface="DejaVu Sans"/>
              </a:rPr>
              <a:t>Django uygulaması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29000" y="2011680"/>
            <a:ext cx="2450591" cy="1508760"/>
          </a:xfrm>
          <a:prstGeom prst="roundRect">
            <a:avLst>
              <a:gd name="adj" fmla="val 6000"/>
            </a:avLst>
          </a:prstGeom>
          <a:solidFill>
            <a:srgbClr val="F7F3F4"/>
          </a:solidFill>
          <a:ln w="12700">
            <a:solidFill>
              <a:srgbClr val="D9CC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429000" y="2011680"/>
            <a:ext cx="50800" cy="1508760"/>
          </a:xfrm>
          <a:prstGeom prst="rect">
            <a:avLst/>
          </a:prstGeom>
          <a:solidFill>
            <a:srgbClr val="8A63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48456" y="2194560"/>
            <a:ext cx="2084831" cy="123443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8A6320"/>
                </a:solidFill>
                <a:latin typeface="DejaVu Sans"/>
              </a:rPr>
              <a:t>129</a:t>
            </a:r>
          </a:p>
          <a:p>
            <a:pPr algn="l">
              <a:spcAft>
                <a:spcPts val="0"/>
              </a:spcAft>
            </a:pPr>
            <a:r>
              <a:rPr sz="1100" b="0">
                <a:solidFill>
                  <a:srgbClr val="6B5C62"/>
                </a:solidFill>
                <a:latin typeface="DejaVu Sans"/>
              </a:rPr>
              <a:t>veritabanı tablosu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080759" y="2011680"/>
            <a:ext cx="2450591" cy="1508760"/>
          </a:xfrm>
          <a:prstGeom prst="roundRect">
            <a:avLst>
              <a:gd name="adj" fmla="val 6000"/>
            </a:avLst>
          </a:prstGeom>
          <a:solidFill>
            <a:srgbClr val="F7F3F4"/>
          </a:solidFill>
          <a:ln w="12700">
            <a:solidFill>
              <a:srgbClr val="D9CC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080759" y="2011680"/>
            <a:ext cx="50800" cy="1508760"/>
          </a:xfrm>
          <a:prstGeom prst="rect">
            <a:avLst/>
          </a:prstGeom>
          <a:solidFill>
            <a:srgbClr val="8A63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00216" y="2194560"/>
            <a:ext cx="2084831" cy="123443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8A6320"/>
                </a:solidFill>
                <a:latin typeface="DejaVu Sans"/>
              </a:rPr>
              <a:t>19</a:t>
            </a:r>
          </a:p>
          <a:p>
            <a:pPr algn="l">
              <a:spcAft>
                <a:spcPts val="0"/>
              </a:spcAft>
            </a:pPr>
            <a:r>
              <a:rPr sz="1100" b="0">
                <a:solidFill>
                  <a:srgbClr val="6B5C62"/>
                </a:solidFill>
                <a:latin typeface="DejaVu Sans"/>
              </a:rPr>
              <a:t>kullanıcı rolü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732519" y="2011680"/>
            <a:ext cx="2450591" cy="1508760"/>
          </a:xfrm>
          <a:prstGeom prst="roundRect">
            <a:avLst>
              <a:gd name="adj" fmla="val 6000"/>
            </a:avLst>
          </a:prstGeom>
          <a:solidFill>
            <a:srgbClr val="F7F3F4"/>
          </a:solidFill>
          <a:ln w="12700">
            <a:solidFill>
              <a:srgbClr val="D9CC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732519" y="2011680"/>
            <a:ext cx="50800" cy="1508760"/>
          </a:xfrm>
          <a:prstGeom prst="rect">
            <a:avLst/>
          </a:prstGeom>
          <a:solidFill>
            <a:srgbClr val="8A63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51976" y="2194560"/>
            <a:ext cx="2084831" cy="123443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8A6320"/>
                </a:solidFill>
                <a:latin typeface="DejaVu Sans"/>
              </a:rPr>
              <a:t>13</a:t>
            </a:r>
          </a:p>
          <a:p>
            <a:pPr algn="l">
              <a:spcAft>
                <a:spcPts val="0"/>
              </a:spcAft>
            </a:pPr>
            <a:r>
              <a:rPr sz="1100" b="0">
                <a:solidFill>
                  <a:srgbClr val="6B5C62"/>
                </a:solidFill>
                <a:latin typeface="DejaVu Sans"/>
              </a:rPr>
              <a:t>hazır rapor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77240" y="3703320"/>
            <a:ext cx="2450591" cy="1508760"/>
          </a:xfrm>
          <a:prstGeom prst="roundRect">
            <a:avLst>
              <a:gd name="adj" fmla="val 6000"/>
            </a:avLst>
          </a:prstGeom>
          <a:solidFill>
            <a:srgbClr val="F7F3F4"/>
          </a:solidFill>
          <a:ln w="12700">
            <a:solidFill>
              <a:srgbClr val="D9CC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77240" y="3703320"/>
            <a:ext cx="50800" cy="1508760"/>
          </a:xfrm>
          <a:prstGeom prst="rect">
            <a:avLst/>
          </a:prstGeom>
          <a:solidFill>
            <a:srgbClr val="8A63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96695" y="3886200"/>
            <a:ext cx="2084831" cy="123443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8A6320"/>
                </a:solidFill>
                <a:latin typeface="DejaVu Sans"/>
              </a:rPr>
              <a:t>380</a:t>
            </a:r>
          </a:p>
          <a:p>
            <a:pPr algn="l">
              <a:spcAft>
                <a:spcPts val="0"/>
              </a:spcAft>
            </a:pPr>
            <a:r>
              <a:rPr sz="1100" b="0">
                <a:solidFill>
                  <a:srgbClr val="6B5C62"/>
                </a:solidFill>
                <a:latin typeface="DejaVu Sans"/>
              </a:rPr>
              <a:t>otomatik test · tamamı geçiyor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429000" y="3703320"/>
            <a:ext cx="2450591" cy="1508760"/>
          </a:xfrm>
          <a:prstGeom prst="roundRect">
            <a:avLst>
              <a:gd name="adj" fmla="val 6000"/>
            </a:avLst>
          </a:prstGeom>
          <a:solidFill>
            <a:srgbClr val="F7F3F4"/>
          </a:solidFill>
          <a:ln w="12700">
            <a:solidFill>
              <a:srgbClr val="D9CC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429000" y="3703320"/>
            <a:ext cx="50800" cy="1508760"/>
          </a:xfrm>
          <a:prstGeom prst="rect">
            <a:avLst/>
          </a:prstGeom>
          <a:solidFill>
            <a:srgbClr val="8A63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648456" y="3886200"/>
            <a:ext cx="2084831" cy="123443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8A6320"/>
                </a:solidFill>
                <a:latin typeface="DejaVu Sans"/>
              </a:rPr>
              <a:t>%73</a:t>
            </a:r>
          </a:p>
          <a:p>
            <a:pPr algn="l">
              <a:spcAft>
                <a:spcPts val="0"/>
              </a:spcAft>
            </a:pPr>
            <a:r>
              <a:rPr sz="1100" b="0">
                <a:solidFill>
                  <a:srgbClr val="6B5C62"/>
                </a:solidFill>
                <a:latin typeface="DejaVu Sans"/>
              </a:rPr>
              <a:t>satır kapsamı (tüm kod)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080759" y="3703320"/>
            <a:ext cx="2450591" cy="1508760"/>
          </a:xfrm>
          <a:prstGeom prst="roundRect">
            <a:avLst>
              <a:gd name="adj" fmla="val 6000"/>
            </a:avLst>
          </a:prstGeom>
          <a:solidFill>
            <a:srgbClr val="F7F3F4"/>
          </a:solidFill>
          <a:ln w="12700">
            <a:solidFill>
              <a:srgbClr val="D9CC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080759" y="3703320"/>
            <a:ext cx="50800" cy="1508760"/>
          </a:xfrm>
          <a:prstGeom prst="rect">
            <a:avLst/>
          </a:prstGeom>
          <a:solidFill>
            <a:srgbClr val="8A63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300216" y="3886200"/>
            <a:ext cx="2084831" cy="123443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8A6320"/>
                </a:solidFill>
                <a:latin typeface="DejaVu Sans"/>
              </a:rPr>
              <a:t>0</a:t>
            </a:r>
          </a:p>
          <a:p>
            <a:pPr algn="l">
              <a:spcAft>
                <a:spcPts val="0"/>
              </a:spcAft>
            </a:pPr>
            <a:r>
              <a:rPr sz="1100" b="0">
                <a:solidFill>
                  <a:srgbClr val="6B5C62"/>
                </a:solidFill>
                <a:latin typeface="DejaVu Sans"/>
              </a:rPr>
              <a:t>bilinen çalışma zamanı zafiyeti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732519" y="3703320"/>
            <a:ext cx="2450591" cy="1508760"/>
          </a:xfrm>
          <a:prstGeom prst="roundRect">
            <a:avLst>
              <a:gd name="adj" fmla="val 6000"/>
            </a:avLst>
          </a:prstGeom>
          <a:solidFill>
            <a:srgbClr val="F7F3F4"/>
          </a:solidFill>
          <a:ln w="12700">
            <a:solidFill>
              <a:srgbClr val="D9CC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732519" y="3703320"/>
            <a:ext cx="50800" cy="1508760"/>
          </a:xfrm>
          <a:prstGeom prst="rect">
            <a:avLst/>
          </a:prstGeom>
          <a:solidFill>
            <a:srgbClr val="8A63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951976" y="3886200"/>
            <a:ext cx="2084831" cy="123443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8A6320"/>
                </a:solidFill>
                <a:latin typeface="DejaVu Sans"/>
              </a:rPr>
              <a:t>29</a:t>
            </a:r>
          </a:p>
          <a:p>
            <a:pPr algn="l">
              <a:spcAft>
                <a:spcPts val="0"/>
              </a:spcAft>
            </a:pPr>
            <a:r>
              <a:rPr sz="1100" b="0">
                <a:solidFill>
                  <a:srgbClr val="6B5C62"/>
                </a:solidFill>
                <a:latin typeface="DejaVu Sans"/>
              </a:rPr>
              <a:t>çalışma zamanı bağımlılığı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77240" y="6327648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6B5C62"/>
                </a:solidFill>
                <a:latin typeface="DejaVu Sans"/>
              </a:rPr>
              <a:t>Wine House · Aziz Şekerdil · 2026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424160" y="6327648"/>
            <a:ext cx="9601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>
                <a:solidFill>
                  <a:srgbClr val="6B5C62"/>
                </a:solidFill>
                <a:latin typeface="DejaVu Sans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66928"/>
            <a:ext cx="106070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23181C"/>
                </a:solidFill>
                <a:latin typeface="DejaVu Sans"/>
              </a:rPr>
              <a:t>Şarap restoranı neden farklı?</a:t>
            </a:r>
          </a:p>
          <a:p>
            <a:pPr algn="l">
              <a:spcAft>
                <a:spcPts val="0"/>
              </a:spcAft>
            </a:pPr>
            <a:r>
              <a:rPr sz="1400" b="0">
                <a:solidFill>
                  <a:srgbClr val="6B5C62"/>
                </a:solidFill>
                <a:latin typeface="DejaVu Sans"/>
              </a:rPr>
              <a:t>Standart POS yazılımlarının çözemediği sorun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572768"/>
            <a:ext cx="1371600" cy="38100"/>
          </a:xfrm>
          <a:prstGeom prst="rect">
            <a:avLst/>
          </a:prstGeom>
          <a:solidFill>
            <a:srgbClr val="8A63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22960" y="2150303"/>
            <a:ext cx="76200" cy="76200"/>
          </a:xfrm>
          <a:prstGeom prst="rect">
            <a:avLst/>
          </a:prstGeom>
          <a:solidFill>
            <a:srgbClr val="8A63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70432" y="1965960"/>
            <a:ext cx="1024128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>
                <a:solidFill>
                  <a:srgbClr val="23181C"/>
                </a:solidFill>
                <a:latin typeface="DejaVu Sans"/>
              </a:rPr>
              <a:t>Şarap </a:t>
            </a:r>
            <a:r>
              <a:rPr sz="1600" b="1">
                <a:solidFill>
                  <a:srgbClr val="8A6320"/>
                </a:solidFill>
                <a:latin typeface="DejaVu Sans"/>
              </a:rPr>
              <a:t>iki birimde</a:t>
            </a:r>
            <a:r>
              <a:rPr sz="1600" b="0">
                <a:solidFill>
                  <a:srgbClr val="23181C"/>
                </a:solidFill>
                <a:latin typeface="DejaVu Sans"/>
              </a:rPr>
              <a:t> satılır — şişe ve kadeh — ama stok tek birimde tutulur.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2808671"/>
            <a:ext cx="76200" cy="76200"/>
          </a:xfrm>
          <a:prstGeom prst="rect">
            <a:avLst/>
          </a:prstGeom>
          <a:solidFill>
            <a:srgbClr val="8A63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70432" y="2624328"/>
            <a:ext cx="1024128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>
                <a:solidFill>
                  <a:srgbClr val="23181C"/>
                </a:solidFill>
                <a:latin typeface="DejaVu Sans"/>
              </a:rPr>
              <a:t>Açılan bir şişe </a:t>
            </a:r>
            <a:r>
              <a:rPr sz="1600" b="1">
                <a:solidFill>
                  <a:srgbClr val="8A6320"/>
                </a:solidFill>
                <a:latin typeface="DejaVu Sans"/>
              </a:rPr>
              <a:t>bozulmaya başlar</a:t>
            </a:r>
            <a:r>
              <a:rPr sz="1600" b="0">
                <a:solidFill>
                  <a:srgbClr val="23181C"/>
                </a:solidFill>
                <a:latin typeface="DejaVu Sans"/>
              </a:rPr>
              <a:t>; ne zaman açıldığı ve nasıl korunduğu önemlidir.</a:t>
            </a:r>
          </a:p>
        </p:txBody>
      </p:sp>
      <p:sp>
        <p:nvSpPr>
          <p:cNvPr id="8" name="Rectangle 7"/>
          <p:cNvSpPr/>
          <p:nvPr/>
        </p:nvSpPr>
        <p:spPr>
          <a:xfrm>
            <a:off x="822960" y="3467039"/>
            <a:ext cx="76200" cy="76200"/>
          </a:xfrm>
          <a:prstGeom prst="rect">
            <a:avLst/>
          </a:prstGeom>
          <a:solidFill>
            <a:srgbClr val="8A63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70432" y="3282696"/>
            <a:ext cx="1024128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>
                <a:solidFill>
                  <a:srgbClr val="23181C"/>
                </a:solidFill>
                <a:latin typeface="DejaVu Sans"/>
              </a:rPr>
              <a:t>Bir şişeden çıkması gereken kadeh sayısı ile </a:t>
            </a:r>
            <a:r>
              <a:rPr sz="1600" b="1">
                <a:solidFill>
                  <a:srgbClr val="8A6320"/>
                </a:solidFill>
                <a:latin typeface="DejaVu Sans"/>
              </a:rPr>
              <a:t>gerçekte çıkan</a:t>
            </a:r>
            <a:r>
              <a:rPr sz="1600" b="0">
                <a:solidFill>
                  <a:srgbClr val="23181C"/>
                </a:solidFill>
                <a:latin typeface="DejaVu Sans"/>
              </a:rPr>
              <a:t> arasındaki fark, doğrudan kâr kaybıdır.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" y="4125407"/>
            <a:ext cx="76200" cy="76200"/>
          </a:xfrm>
          <a:prstGeom prst="rect">
            <a:avLst/>
          </a:prstGeom>
          <a:solidFill>
            <a:srgbClr val="8A63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70432" y="3941063"/>
            <a:ext cx="1024128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>
                <a:solidFill>
                  <a:srgbClr val="23181C"/>
                </a:solidFill>
                <a:latin typeface="DejaVu Sans"/>
              </a:rPr>
              <a:t>Şarabın bir </a:t>
            </a:r>
            <a:r>
              <a:rPr sz="1600" b="1">
                <a:solidFill>
                  <a:srgbClr val="8A6320"/>
                </a:solidFill>
                <a:latin typeface="DejaVu Sans"/>
              </a:rPr>
              <a:t>içim aralığı</a:t>
            </a:r>
            <a:r>
              <a:rPr sz="1600" b="0">
                <a:solidFill>
                  <a:srgbClr val="23181C"/>
                </a:solidFill>
                <a:latin typeface="DejaVu Sans"/>
              </a:rPr>
              <a:t> vardır; zamanında satılmayan şişe değer kaybeder.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2960" y="4783775"/>
            <a:ext cx="76200" cy="76200"/>
          </a:xfrm>
          <a:prstGeom prst="rect">
            <a:avLst/>
          </a:prstGeom>
          <a:solidFill>
            <a:srgbClr val="8A63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70432" y="4599431"/>
            <a:ext cx="1024128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>
                <a:solidFill>
                  <a:srgbClr val="23181C"/>
                </a:solidFill>
                <a:latin typeface="DejaVu Sans"/>
              </a:rPr>
              <a:t>Kav sıcaklığı birkaç derece saparsa </a:t>
            </a:r>
            <a:r>
              <a:rPr sz="1600" b="1">
                <a:solidFill>
                  <a:srgbClr val="8A6320"/>
                </a:solidFill>
                <a:latin typeface="DejaVu Sans"/>
              </a:rPr>
              <a:t>binlerce liralık envanter</a:t>
            </a:r>
            <a:r>
              <a:rPr sz="1600" b="0">
                <a:solidFill>
                  <a:srgbClr val="23181C"/>
                </a:solidFill>
                <a:latin typeface="DejaVu Sans"/>
              </a:rPr>
              <a:t> zarar görür.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22960" y="5442143"/>
            <a:ext cx="76200" cy="76200"/>
          </a:xfrm>
          <a:prstGeom prst="rect">
            <a:avLst/>
          </a:prstGeom>
          <a:solidFill>
            <a:srgbClr val="8A63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70432" y="5257799"/>
            <a:ext cx="1024128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>
                <a:solidFill>
                  <a:srgbClr val="23181C"/>
                </a:solidFill>
                <a:latin typeface="DejaVu Sans"/>
              </a:rPr>
              <a:t>Sommelier'nin önerisi, o an </a:t>
            </a:r>
            <a:r>
              <a:rPr sz="1600" b="1">
                <a:solidFill>
                  <a:srgbClr val="8A6320"/>
                </a:solidFill>
                <a:latin typeface="DejaVu Sans"/>
              </a:rPr>
              <a:t>stokta olan</a:t>
            </a:r>
            <a:r>
              <a:rPr sz="1600" b="0">
                <a:solidFill>
                  <a:srgbClr val="23181C"/>
                </a:solidFill>
                <a:latin typeface="DejaVu Sans"/>
              </a:rPr>
              <a:t> şarapla sınırlı olmalıdır.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6327648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6B5C62"/>
                </a:solidFill>
                <a:latin typeface="DejaVu Sans"/>
              </a:rPr>
              <a:t>Wine House · Aziz Şekerdil · 2026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424160" y="6327648"/>
            <a:ext cx="9601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>
                <a:solidFill>
                  <a:srgbClr val="6B5C62"/>
                </a:solidFill>
                <a:latin typeface="DejaVu Sans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66928"/>
            <a:ext cx="106070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23181C"/>
                </a:solidFill>
                <a:latin typeface="DejaVu Sans"/>
              </a:rPr>
              <a:t>Wine House ne yapar?</a:t>
            </a:r>
          </a:p>
          <a:p>
            <a:pPr algn="l">
              <a:spcAft>
                <a:spcPts val="0"/>
              </a:spcAft>
            </a:pPr>
            <a:r>
              <a:rPr sz="1400" b="0">
                <a:solidFill>
                  <a:srgbClr val="6B5C62"/>
                </a:solidFill>
                <a:latin typeface="DejaVu Sans"/>
              </a:rPr>
              <a:t>Tek uygulamada, tek veritabanında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572768"/>
            <a:ext cx="1371600" cy="38100"/>
          </a:xfrm>
          <a:prstGeom prst="rect">
            <a:avLst/>
          </a:prstGeom>
          <a:solidFill>
            <a:srgbClr val="8A63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22960" y="2125065"/>
            <a:ext cx="76200" cy="76200"/>
          </a:xfrm>
          <a:prstGeom prst="rect">
            <a:avLst/>
          </a:prstGeom>
          <a:solidFill>
            <a:srgbClr val="8A63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70432" y="1965960"/>
            <a:ext cx="10241280" cy="56823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1">
                <a:solidFill>
                  <a:srgbClr val="8A6320"/>
                </a:solidFill>
                <a:latin typeface="DejaVu Sans"/>
              </a:rPr>
              <a:t>Salon operasyonu</a:t>
            </a:r>
            <a:r>
              <a:rPr sz="1450" b="0">
                <a:solidFill>
                  <a:srgbClr val="23181C"/>
                </a:solidFill>
                <a:latin typeface="DejaVu Sans"/>
              </a:rPr>
              <a:t> — masa planı, rezervasyon, adisyon, mutfak ekranı, ödeme, gün sonu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2693299"/>
            <a:ext cx="76200" cy="76200"/>
          </a:xfrm>
          <a:prstGeom prst="rect">
            <a:avLst/>
          </a:prstGeom>
          <a:solidFill>
            <a:srgbClr val="8A63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70432" y="2534194"/>
            <a:ext cx="10241280" cy="56823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1">
                <a:solidFill>
                  <a:srgbClr val="8A6320"/>
                </a:solidFill>
                <a:latin typeface="DejaVu Sans"/>
              </a:rPr>
              <a:t>Dijital şarap kavı</a:t>
            </a:r>
            <a:r>
              <a:rPr sz="1450" b="0">
                <a:solidFill>
                  <a:srgbClr val="23181C"/>
                </a:solidFill>
                <a:latin typeface="DejaVu Sans"/>
              </a:rPr>
              <a:t> — künye, yerleşim, parti takibi, kadeh servisi, verim analizi</a:t>
            </a:r>
          </a:p>
        </p:txBody>
      </p:sp>
      <p:sp>
        <p:nvSpPr>
          <p:cNvPr id="8" name="Rectangle 7"/>
          <p:cNvSpPr/>
          <p:nvPr/>
        </p:nvSpPr>
        <p:spPr>
          <a:xfrm>
            <a:off x="822960" y="3261534"/>
            <a:ext cx="76200" cy="76200"/>
          </a:xfrm>
          <a:prstGeom prst="rect">
            <a:avLst/>
          </a:prstGeom>
          <a:solidFill>
            <a:srgbClr val="8A63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70432" y="3102428"/>
            <a:ext cx="10241280" cy="56823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1">
                <a:solidFill>
                  <a:srgbClr val="8A6320"/>
                </a:solidFill>
                <a:latin typeface="DejaVu Sans"/>
              </a:rPr>
              <a:t>Menü ve maliyet</a:t>
            </a:r>
            <a:r>
              <a:rPr sz="1450" b="0">
                <a:solidFill>
                  <a:srgbClr val="23181C"/>
                </a:solidFill>
                <a:latin typeface="DejaVu Sans"/>
              </a:rPr>
              <a:t> — reçete, porsiyon maliyeti, alerjen, dinamik fiyatlandırma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" y="3829768"/>
            <a:ext cx="76200" cy="76200"/>
          </a:xfrm>
          <a:prstGeom prst="rect">
            <a:avLst/>
          </a:prstGeom>
          <a:solidFill>
            <a:srgbClr val="8A63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70432" y="3670662"/>
            <a:ext cx="10241280" cy="56823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1">
                <a:solidFill>
                  <a:srgbClr val="8A6320"/>
                </a:solidFill>
                <a:latin typeface="DejaVu Sans"/>
              </a:rPr>
              <a:t>Stok ve satın alma</a:t>
            </a:r>
            <a:r>
              <a:rPr sz="1450" b="0">
                <a:solidFill>
                  <a:srgbClr val="23181C"/>
                </a:solidFill>
                <a:latin typeface="DejaVu Sans"/>
              </a:rPr>
              <a:t> — FIFO/FEFO, son kullanma, fire, tedarikçi, teklif karşılaştırma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2960" y="4398002"/>
            <a:ext cx="76200" cy="76200"/>
          </a:xfrm>
          <a:prstGeom prst="rect">
            <a:avLst/>
          </a:prstGeom>
          <a:solidFill>
            <a:srgbClr val="8A63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70432" y="4238897"/>
            <a:ext cx="10241280" cy="56823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1">
                <a:solidFill>
                  <a:srgbClr val="8A6320"/>
                </a:solidFill>
                <a:latin typeface="DejaVu Sans"/>
              </a:rPr>
              <a:t>Müşteri ve personel</a:t>
            </a:r>
            <a:r>
              <a:rPr sz="1450" b="0">
                <a:solidFill>
                  <a:srgbClr val="23181C"/>
                </a:solidFill>
                <a:latin typeface="DejaVu Sans"/>
              </a:rPr>
              <a:t> — KVKK uyumlu CRM, sadakat, vardiya, performans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22960" y="4966237"/>
            <a:ext cx="76200" cy="76200"/>
          </a:xfrm>
          <a:prstGeom prst="rect">
            <a:avLst/>
          </a:prstGeom>
          <a:solidFill>
            <a:srgbClr val="8A63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70432" y="4807131"/>
            <a:ext cx="10241280" cy="56823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1">
                <a:solidFill>
                  <a:srgbClr val="8A6320"/>
                </a:solidFill>
                <a:latin typeface="DejaVu Sans"/>
              </a:rPr>
              <a:t>Raporlama</a:t>
            </a:r>
            <a:r>
              <a:rPr sz="1450" b="0">
                <a:solidFill>
                  <a:srgbClr val="23181C"/>
                </a:solidFill>
                <a:latin typeface="DejaVu Sans"/>
              </a:rPr>
              <a:t> — 13 rapor, PDF / Excel / CSV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22960" y="5534471"/>
            <a:ext cx="76200" cy="76200"/>
          </a:xfrm>
          <a:prstGeom prst="rect">
            <a:avLst/>
          </a:prstGeom>
          <a:solidFill>
            <a:srgbClr val="8A63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170432" y="5375365"/>
            <a:ext cx="10241280" cy="56823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1">
                <a:solidFill>
                  <a:srgbClr val="8A6320"/>
                </a:solidFill>
                <a:latin typeface="DejaVu Sans"/>
              </a:rPr>
              <a:t>Yapay zekâ</a:t>
            </a:r>
            <a:r>
              <a:rPr sz="1450" b="0">
                <a:solidFill>
                  <a:srgbClr val="23181C"/>
                </a:solidFill>
                <a:latin typeface="DejaVu Sans"/>
              </a:rPr>
              <a:t> — sommelier asistanı, sağlayıcıdan bağımsız, gizlilik korumalı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6327648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6B5C62"/>
                </a:solidFill>
                <a:latin typeface="DejaVu Sans"/>
              </a:rPr>
              <a:t>Wine House · Aziz Şekerdil · 2026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424160" y="6327648"/>
            <a:ext cx="9601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>
                <a:solidFill>
                  <a:srgbClr val="6B5C62"/>
                </a:solidFill>
                <a:latin typeface="DejaVu Sans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66928"/>
            <a:ext cx="106070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23181C"/>
                </a:solidFill>
                <a:latin typeface="DejaVu Sans"/>
              </a:rPr>
              <a:t>Tasarım ilkeleri</a:t>
            </a:r>
          </a:p>
          <a:p>
            <a:pPr algn="l">
              <a:spcAft>
                <a:spcPts val="0"/>
              </a:spcAft>
            </a:pPr>
            <a:r>
              <a:rPr sz="1400" b="0">
                <a:solidFill>
                  <a:srgbClr val="6B5C62"/>
                </a:solidFill>
                <a:latin typeface="DejaVu Sans"/>
              </a:rPr>
              <a:t>Her karar bir gerekçeye dayanır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572768"/>
            <a:ext cx="1371600" cy="38100"/>
          </a:xfrm>
          <a:prstGeom prst="rect">
            <a:avLst/>
          </a:prstGeom>
          <a:solidFill>
            <a:srgbClr val="8A63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2011680"/>
            <a:ext cx="3127248" cy="522514"/>
          </a:xfrm>
          <a:prstGeom prst="rect">
            <a:avLst/>
          </a:prstGeom>
          <a:solidFill>
            <a:srgbClr val="4A1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23544" y="2126633"/>
            <a:ext cx="2871216" cy="52251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DejaVu Sans"/>
              </a:rPr>
              <a:t>İlke</a:t>
            </a:r>
          </a:p>
        </p:txBody>
      </p:sp>
      <p:sp>
        <p:nvSpPr>
          <p:cNvPr id="6" name="Rectangle 5"/>
          <p:cNvSpPr/>
          <p:nvPr/>
        </p:nvSpPr>
        <p:spPr>
          <a:xfrm>
            <a:off x="3959352" y="2011680"/>
            <a:ext cx="7370063" cy="522514"/>
          </a:xfrm>
          <a:prstGeom prst="rect">
            <a:avLst/>
          </a:prstGeom>
          <a:solidFill>
            <a:srgbClr val="4A1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05656" y="2126633"/>
            <a:ext cx="7114031" cy="52251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DejaVu Sans"/>
              </a:rPr>
              <a:t>Ne anlama geliyor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2589058"/>
            <a:ext cx="3127248" cy="522514"/>
          </a:xfrm>
          <a:prstGeom prst="rect">
            <a:avLst/>
          </a:prstGeom>
          <a:solidFill>
            <a:srgbClr val="F7F3F4"/>
          </a:solidFill>
          <a:ln w="12700">
            <a:solidFill>
              <a:srgbClr val="D9CC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23544" y="2693561"/>
            <a:ext cx="2871216" cy="52251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8A6320"/>
                </a:solidFill>
                <a:latin typeface="DejaVu Sans"/>
              </a:rPr>
              <a:t>Yerel öncelikli</a:t>
            </a:r>
          </a:p>
        </p:txBody>
      </p:sp>
      <p:sp>
        <p:nvSpPr>
          <p:cNvPr id="10" name="Rectangle 9"/>
          <p:cNvSpPr/>
          <p:nvPr/>
        </p:nvSpPr>
        <p:spPr>
          <a:xfrm>
            <a:off x="3959352" y="2589058"/>
            <a:ext cx="7370063" cy="522514"/>
          </a:xfrm>
          <a:prstGeom prst="rect">
            <a:avLst/>
          </a:prstGeom>
          <a:solidFill>
            <a:srgbClr val="F7F3F4"/>
          </a:solidFill>
          <a:ln w="12700">
            <a:solidFill>
              <a:srgbClr val="D9CC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05656" y="2693561"/>
            <a:ext cx="7114031" cy="52251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23181C"/>
                </a:solidFill>
                <a:latin typeface="DejaVu Sans"/>
              </a:rPr>
              <a:t>İnternet kesildiğinde restoran çalışmaya devam eder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7240" y="3148148"/>
            <a:ext cx="3127248" cy="522514"/>
          </a:xfrm>
          <a:prstGeom prst="rect">
            <a:avLst/>
          </a:prstGeom>
          <a:solidFill>
            <a:srgbClr val="EFE7EA"/>
          </a:solidFill>
          <a:ln w="12700">
            <a:solidFill>
              <a:srgbClr val="D9CC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23544" y="3252651"/>
            <a:ext cx="2871216" cy="52251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8A6320"/>
                </a:solidFill>
                <a:latin typeface="DejaVu Sans"/>
              </a:rPr>
              <a:t>Yapay zekâ isteğe bağlı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959352" y="3148148"/>
            <a:ext cx="7370063" cy="522514"/>
          </a:xfrm>
          <a:prstGeom prst="rect">
            <a:avLst/>
          </a:prstGeom>
          <a:solidFill>
            <a:srgbClr val="EFE7EA"/>
          </a:solidFill>
          <a:ln w="12700">
            <a:solidFill>
              <a:srgbClr val="D9CC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105656" y="3252651"/>
            <a:ext cx="7114031" cy="52251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23181C"/>
                </a:solidFill>
                <a:latin typeface="DejaVu Sans"/>
              </a:rPr>
              <a:t>AI kapalıyken tüm temel işlevler tam çalışır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77240" y="3707238"/>
            <a:ext cx="3127248" cy="522514"/>
          </a:xfrm>
          <a:prstGeom prst="rect">
            <a:avLst/>
          </a:prstGeom>
          <a:solidFill>
            <a:srgbClr val="F7F3F4"/>
          </a:solidFill>
          <a:ln w="12700">
            <a:solidFill>
              <a:srgbClr val="D9CC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23544" y="3811741"/>
            <a:ext cx="2871216" cy="52251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8A6320"/>
                </a:solidFill>
                <a:latin typeface="DejaVu Sans"/>
              </a:rPr>
              <a:t>Mali kayıtlar dondurulur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959352" y="3707238"/>
            <a:ext cx="7370063" cy="522514"/>
          </a:xfrm>
          <a:prstGeom prst="rect">
            <a:avLst/>
          </a:prstGeom>
          <a:solidFill>
            <a:srgbClr val="F7F3F4"/>
          </a:solidFill>
          <a:ln w="12700">
            <a:solidFill>
              <a:srgbClr val="D9CC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105656" y="3811741"/>
            <a:ext cx="7114031" cy="52251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23181C"/>
                </a:solidFill>
                <a:latin typeface="DejaVu Sans"/>
              </a:rPr>
              <a:t>Menü fiyatı değişse bile geçmiş hesap değişmez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77240" y="4266329"/>
            <a:ext cx="3127248" cy="522514"/>
          </a:xfrm>
          <a:prstGeom prst="rect">
            <a:avLst/>
          </a:prstGeom>
          <a:solidFill>
            <a:srgbClr val="EFE7EA"/>
          </a:solidFill>
          <a:ln w="12700">
            <a:solidFill>
              <a:srgbClr val="D9CC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23544" y="4370831"/>
            <a:ext cx="2871216" cy="52251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8A6320"/>
                </a:solidFill>
                <a:latin typeface="DejaVu Sans"/>
              </a:rPr>
              <a:t>Silme yerine iz bırakma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959352" y="4266329"/>
            <a:ext cx="7370063" cy="522514"/>
          </a:xfrm>
          <a:prstGeom prst="rect">
            <a:avLst/>
          </a:prstGeom>
          <a:solidFill>
            <a:srgbClr val="EFE7EA"/>
          </a:solidFill>
          <a:ln w="12700">
            <a:solidFill>
              <a:srgbClr val="D9CC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105656" y="4370831"/>
            <a:ext cx="7114031" cy="52251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23181C"/>
                </a:solidFill>
                <a:latin typeface="DejaVu Sans"/>
              </a:rPr>
              <a:t>Düzeltme ters kayıtla yapılır; denetim izi korunur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77240" y="4825419"/>
            <a:ext cx="3127248" cy="522514"/>
          </a:xfrm>
          <a:prstGeom prst="rect">
            <a:avLst/>
          </a:prstGeom>
          <a:solidFill>
            <a:srgbClr val="F7F3F4"/>
          </a:solidFill>
          <a:ln w="12700">
            <a:solidFill>
              <a:srgbClr val="D9CC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23544" y="4929922"/>
            <a:ext cx="2871216" cy="52251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8A6320"/>
                </a:solidFill>
                <a:latin typeface="DejaVu Sans"/>
              </a:rPr>
              <a:t>Güvenli varsayılan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959352" y="4825419"/>
            <a:ext cx="7370063" cy="522514"/>
          </a:xfrm>
          <a:prstGeom prst="rect">
            <a:avLst/>
          </a:prstGeom>
          <a:solidFill>
            <a:srgbClr val="F7F3F4"/>
          </a:solidFill>
          <a:ln w="12700">
            <a:solidFill>
              <a:srgbClr val="D9CC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105656" y="4929922"/>
            <a:ext cx="7114031" cy="52251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23181C"/>
                </a:solidFill>
                <a:latin typeface="DejaVu Sans"/>
              </a:rPr>
              <a:t>Tehlikeli özellikler kapalı doğar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77240" y="5384509"/>
            <a:ext cx="3127248" cy="522514"/>
          </a:xfrm>
          <a:prstGeom prst="rect">
            <a:avLst/>
          </a:prstGeom>
          <a:solidFill>
            <a:srgbClr val="EFE7EA"/>
          </a:solidFill>
          <a:ln w="12700">
            <a:solidFill>
              <a:srgbClr val="D9CC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23544" y="5489012"/>
            <a:ext cx="2871216" cy="52251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8A6320"/>
                </a:solidFill>
                <a:latin typeface="DejaVu Sans"/>
              </a:rPr>
              <a:t>En az yetki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959352" y="5384509"/>
            <a:ext cx="7370063" cy="522514"/>
          </a:xfrm>
          <a:prstGeom prst="rect">
            <a:avLst/>
          </a:prstGeom>
          <a:solidFill>
            <a:srgbClr val="EFE7EA"/>
          </a:solidFill>
          <a:ln w="12700">
            <a:solidFill>
              <a:srgbClr val="D9CC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105656" y="5489012"/>
            <a:ext cx="7114031" cy="52251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23181C"/>
                </a:solidFill>
                <a:latin typeface="DejaVu Sans"/>
              </a:rPr>
              <a:t>Kullanıcı yalnızca görevini görür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77240" y="6327648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6B5C62"/>
                </a:solidFill>
                <a:latin typeface="DejaVu Sans"/>
              </a:rPr>
              <a:t>Wine House · Aziz Şekerdil · 2026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424160" y="6327648"/>
            <a:ext cx="9601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>
                <a:solidFill>
                  <a:srgbClr val="6B5C62"/>
                </a:solidFill>
                <a:latin typeface="DejaVu Sans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514600"/>
            <a:ext cx="12191969" cy="1828800"/>
          </a:xfrm>
          <a:prstGeom prst="rect">
            <a:avLst/>
          </a:prstGeom>
          <a:solidFill>
            <a:srgbClr val="F7F3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77240" y="2514600"/>
            <a:ext cx="63500" cy="1828800"/>
          </a:xfrm>
          <a:prstGeom prst="rect">
            <a:avLst/>
          </a:prstGeom>
          <a:solidFill>
            <a:srgbClr val="8A63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88720" y="2834640"/>
            <a:ext cx="96012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4000" b="1">
                <a:solidFill>
                  <a:srgbClr val="23181C"/>
                </a:solidFill>
                <a:latin typeface="DejaVu Sans"/>
              </a:rPr>
              <a:t>Salon Operasyonu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8720" y="3611880"/>
            <a:ext cx="96012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>
                <a:solidFill>
                  <a:srgbClr val="8A6320"/>
                </a:solidFill>
                <a:latin typeface="DejaVu Sans"/>
              </a:rPr>
              <a:t>Masadan kasaya kesintisiz akış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463040"/>
            <a:ext cx="3657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6B5C62"/>
                </a:solidFill>
                <a:latin typeface="DejaVu Sans"/>
              </a:rPr>
              <a:t>6 / 58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6327648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6B5C62"/>
                </a:solidFill>
                <a:latin typeface="DejaVu Sans"/>
              </a:rPr>
              <a:t>Wine House · Aziz Şekerdil ·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424160" y="6327648"/>
            <a:ext cx="9601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>
                <a:solidFill>
                  <a:srgbClr val="6B5C62"/>
                </a:solidFill>
                <a:latin typeface="DejaVu Sans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66928"/>
            <a:ext cx="106070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23181C"/>
                </a:solidFill>
                <a:latin typeface="DejaVu Sans"/>
              </a:rPr>
              <a:t>Masa planı</a:t>
            </a:r>
          </a:p>
          <a:p>
            <a:pPr algn="l">
              <a:spcAft>
                <a:spcPts val="0"/>
              </a:spcAft>
            </a:pPr>
            <a:r>
              <a:rPr sz="1400" b="0">
                <a:solidFill>
                  <a:srgbClr val="6B5C62"/>
                </a:solidFill>
                <a:latin typeface="DejaVu Sans"/>
              </a:rPr>
              <a:t>Salonun anlık durumu tek ekranda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572768"/>
            <a:ext cx="1371600" cy="38100"/>
          </a:xfrm>
          <a:prstGeom prst="rect">
            <a:avLst/>
          </a:prstGeom>
          <a:solidFill>
            <a:srgbClr val="8A63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22960" y="2150303"/>
            <a:ext cx="76200" cy="76200"/>
          </a:xfrm>
          <a:prstGeom prst="rect">
            <a:avLst/>
          </a:prstGeom>
          <a:solidFill>
            <a:srgbClr val="8A63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70432" y="1965960"/>
            <a:ext cx="1024128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>
                <a:solidFill>
                  <a:srgbClr val="23181C"/>
                </a:solidFill>
                <a:latin typeface="DejaVu Sans"/>
              </a:rPr>
              <a:t>Bölüm bazlı yerleşim: ana salon, teras, bar, kav odası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2808671"/>
            <a:ext cx="76200" cy="76200"/>
          </a:xfrm>
          <a:prstGeom prst="rect">
            <a:avLst/>
          </a:prstGeom>
          <a:solidFill>
            <a:srgbClr val="8A63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70432" y="2624328"/>
            <a:ext cx="1024128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>
                <a:solidFill>
                  <a:srgbClr val="23181C"/>
                </a:solidFill>
                <a:latin typeface="DejaVu Sans"/>
              </a:rPr>
              <a:t>Sekiz masa durumu renkle </a:t>
            </a:r>
            <a:r>
              <a:rPr sz="1600" b="1">
                <a:solidFill>
                  <a:srgbClr val="8A6320"/>
                </a:solidFill>
                <a:latin typeface="DejaVu Sans"/>
              </a:rPr>
              <a:t>ve metinle</a:t>
            </a:r>
            <a:r>
              <a:rPr sz="1600" b="0">
                <a:solidFill>
                  <a:srgbClr val="23181C"/>
                </a:solidFill>
                <a:latin typeface="DejaVu Sans"/>
              </a:rPr>
              <a:t> kodlanır — düşük ışıkta da okunur</a:t>
            </a:r>
          </a:p>
        </p:txBody>
      </p:sp>
      <p:sp>
        <p:nvSpPr>
          <p:cNvPr id="8" name="Rectangle 7"/>
          <p:cNvSpPr/>
          <p:nvPr/>
        </p:nvSpPr>
        <p:spPr>
          <a:xfrm>
            <a:off x="822960" y="3467039"/>
            <a:ext cx="76200" cy="76200"/>
          </a:xfrm>
          <a:prstGeom prst="rect">
            <a:avLst/>
          </a:prstGeom>
          <a:solidFill>
            <a:srgbClr val="8A63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70432" y="3282696"/>
            <a:ext cx="1024128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>
                <a:solidFill>
                  <a:srgbClr val="23181C"/>
                </a:solidFill>
                <a:latin typeface="DejaVu Sans"/>
              </a:rPr>
              <a:t>Masanın üzerinde açık adisyon numarası ve güncel tutar görünür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" y="4125407"/>
            <a:ext cx="76200" cy="76200"/>
          </a:xfrm>
          <a:prstGeom prst="rect">
            <a:avLst/>
          </a:prstGeom>
          <a:solidFill>
            <a:srgbClr val="8A63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70432" y="3941063"/>
            <a:ext cx="1024128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>
                <a:solidFill>
                  <a:srgbClr val="23181C"/>
                </a:solidFill>
                <a:latin typeface="DejaVu Sans"/>
              </a:rPr>
              <a:t>Masaya tıklayınca doğrudan adisyona geçilir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2960" y="4783775"/>
            <a:ext cx="76200" cy="76200"/>
          </a:xfrm>
          <a:prstGeom prst="rect">
            <a:avLst/>
          </a:prstGeom>
          <a:solidFill>
            <a:srgbClr val="8A63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70432" y="4599431"/>
            <a:ext cx="1024128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>
                <a:solidFill>
                  <a:srgbClr val="23181C"/>
                </a:solidFill>
                <a:latin typeface="DejaVu Sans"/>
              </a:rPr>
              <a:t>Dokunmatik POS için 44 piksellik hedef alanlar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6327648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6B5C62"/>
                </a:solidFill>
                <a:latin typeface="DejaVu Sans"/>
              </a:rPr>
              <a:t>Wine House · Aziz Şekerdil · 2026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424160" y="6327648"/>
            <a:ext cx="9601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>
                <a:solidFill>
                  <a:srgbClr val="6B5C62"/>
                </a:solidFill>
                <a:latin typeface="DejaVu Sans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66928"/>
            <a:ext cx="106070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23181C"/>
                </a:solidFill>
                <a:latin typeface="DejaVu Sans"/>
              </a:rPr>
              <a:t>Rezervasyon çakışma denetimi</a:t>
            </a:r>
          </a:p>
          <a:p>
            <a:pPr algn="l">
              <a:spcAft>
                <a:spcPts val="0"/>
              </a:spcAft>
            </a:pPr>
            <a:r>
              <a:rPr sz="1400" b="0">
                <a:solidFill>
                  <a:srgbClr val="6B5C62"/>
                </a:solidFill>
                <a:latin typeface="DejaVu Sans"/>
              </a:rPr>
              <a:t>Aynı masa iki kez verilemez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572768"/>
            <a:ext cx="1371600" cy="38100"/>
          </a:xfrm>
          <a:prstGeom prst="rect">
            <a:avLst/>
          </a:prstGeom>
          <a:solidFill>
            <a:srgbClr val="8A63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77240" y="2148840"/>
            <a:ext cx="749808" cy="749808"/>
          </a:xfrm>
          <a:prstGeom prst="roundRect">
            <a:avLst>
              <a:gd name="adj" fmla="val 6000"/>
            </a:avLst>
          </a:prstGeom>
          <a:solidFill>
            <a:srgbClr val="8A63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2331720"/>
            <a:ext cx="74980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DejaVu Sans"/>
              </a:rPr>
              <a:t>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627632" y="2148840"/>
            <a:ext cx="9738360" cy="749808"/>
          </a:xfrm>
          <a:prstGeom prst="roundRect">
            <a:avLst>
              <a:gd name="adj" fmla="val 6000"/>
            </a:avLst>
          </a:prstGeom>
          <a:solidFill>
            <a:srgbClr val="F7F3F4"/>
          </a:solidFill>
          <a:ln w="12700">
            <a:solidFill>
              <a:srgbClr val="D9CC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874519" y="2350008"/>
            <a:ext cx="9235440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23181C"/>
                </a:solidFill>
                <a:latin typeface="DejaVu Sans"/>
              </a:rPr>
              <a:t>Rezervasyon oluştur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3044952"/>
            <a:ext cx="749808" cy="749808"/>
          </a:xfrm>
          <a:prstGeom prst="roundRect">
            <a:avLst>
              <a:gd name="adj" fmla="val 6000"/>
            </a:avLst>
          </a:prstGeom>
          <a:solidFill>
            <a:srgbClr val="8A63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3227832"/>
            <a:ext cx="74980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DejaVu Sans"/>
              </a:rPr>
              <a:t>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627632" y="3044952"/>
            <a:ext cx="9738360" cy="749808"/>
          </a:xfrm>
          <a:prstGeom prst="roundRect">
            <a:avLst>
              <a:gd name="adj" fmla="val 6000"/>
            </a:avLst>
          </a:prstGeom>
          <a:solidFill>
            <a:srgbClr val="F7F3F4"/>
          </a:solidFill>
          <a:ln w="12700">
            <a:solidFill>
              <a:srgbClr val="D9CC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874519" y="3246120"/>
            <a:ext cx="9235440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23181C"/>
                </a:solidFill>
                <a:latin typeface="DejaVu Sans"/>
              </a:rPr>
              <a:t>Masa ata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7240" y="3941064"/>
            <a:ext cx="749808" cy="749808"/>
          </a:xfrm>
          <a:prstGeom prst="roundRect">
            <a:avLst>
              <a:gd name="adj" fmla="val 6000"/>
            </a:avLst>
          </a:prstGeom>
          <a:solidFill>
            <a:srgbClr val="8A63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4123944"/>
            <a:ext cx="74980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DejaVu Sans"/>
              </a:rPr>
              <a:t>3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627632" y="3941064"/>
            <a:ext cx="9738360" cy="749808"/>
          </a:xfrm>
          <a:prstGeom prst="roundRect">
            <a:avLst>
              <a:gd name="adj" fmla="val 6000"/>
            </a:avLst>
          </a:prstGeom>
          <a:solidFill>
            <a:srgbClr val="F7F3F4"/>
          </a:solidFill>
          <a:ln w="12700">
            <a:solidFill>
              <a:srgbClr val="D9CC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874519" y="4142232"/>
            <a:ext cx="9235440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23181C"/>
                </a:solidFill>
                <a:latin typeface="DejaVu Sans"/>
              </a:rPr>
              <a:t>Zaman aralığı kesişiyor mu?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77240" y="4837176"/>
            <a:ext cx="749808" cy="749808"/>
          </a:xfrm>
          <a:prstGeom prst="roundRect">
            <a:avLst>
              <a:gd name="adj" fmla="val 6000"/>
            </a:avLst>
          </a:prstGeom>
          <a:solidFill>
            <a:srgbClr val="8A63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" y="5020056"/>
            <a:ext cx="74980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DejaVu Sans"/>
              </a:rPr>
              <a:t>4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627632" y="4837176"/>
            <a:ext cx="9738360" cy="749808"/>
          </a:xfrm>
          <a:prstGeom prst="roundRect">
            <a:avLst>
              <a:gd name="adj" fmla="val 6000"/>
            </a:avLst>
          </a:prstGeom>
          <a:solidFill>
            <a:srgbClr val="F7F3F4"/>
          </a:solidFill>
          <a:ln w="12700">
            <a:solidFill>
              <a:srgbClr val="D9CC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874519" y="5038344"/>
            <a:ext cx="9235440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23181C"/>
                </a:solidFill>
                <a:latin typeface="DejaVu Sans"/>
              </a:rPr>
              <a:t>Kapasite yeterli mi?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77240" y="5733288"/>
            <a:ext cx="749808" cy="749808"/>
          </a:xfrm>
          <a:prstGeom prst="roundRect">
            <a:avLst>
              <a:gd name="adj" fmla="val 6000"/>
            </a:avLst>
          </a:prstGeom>
          <a:solidFill>
            <a:srgbClr val="8A63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77240" y="5916168"/>
            <a:ext cx="74980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DejaVu Sans"/>
              </a:rPr>
              <a:t>5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627632" y="5733288"/>
            <a:ext cx="9738360" cy="749808"/>
          </a:xfrm>
          <a:prstGeom prst="roundRect">
            <a:avLst>
              <a:gd name="adj" fmla="val 6000"/>
            </a:avLst>
          </a:prstGeom>
          <a:solidFill>
            <a:srgbClr val="F7F3F4"/>
          </a:solidFill>
          <a:ln w="12700">
            <a:solidFill>
              <a:srgbClr val="D9CC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874519" y="5934455"/>
            <a:ext cx="9235440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23181C"/>
                </a:solidFill>
                <a:latin typeface="DejaVu Sans"/>
              </a:rPr>
              <a:t>Onay veya ret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7240" y="5760720"/>
            <a:ext cx="1060704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6B5C62"/>
                </a:solidFill>
                <a:latin typeface="DejaVu Sans"/>
              </a:rPr>
              <a:t>Çakışma varsa sistem masayı atamaz ve hangi rezervasyonla çakıştığını söyler.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7240" y="6327648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6B5C62"/>
                </a:solidFill>
                <a:latin typeface="DejaVu Sans"/>
              </a:rPr>
              <a:t>Wine House · Aziz Şekerdil · 2026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424160" y="6327648"/>
            <a:ext cx="9601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>
                <a:solidFill>
                  <a:srgbClr val="6B5C62"/>
                </a:solidFill>
                <a:latin typeface="DejaVu Sans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66928"/>
            <a:ext cx="106070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23181C"/>
                </a:solidFill>
                <a:latin typeface="DejaVu Sans"/>
              </a:rPr>
              <a:t>Adisyon: fiyat neden dondurulur?</a:t>
            </a:r>
          </a:p>
          <a:p>
            <a:pPr algn="l">
              <a:spcAft>
                <a:spcPts val="0"/>
              </a:spcAft>
            </a:pPr>
            <a:r>
              <a:rPr sz="1400" b="0">
                <a:solidFill>
                  <a:srgbClr val="6B5C62"/>
                </a:solidFill>
                <a:latin typeface="DejaVu Sans"/>
              </a:rPr>
              <a:t>Mali doğruluğun temeli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572768"/>
            <a:ext cx="1371600" cy="38100"/>
          </a:xfrm>
          <a:prstGeom prst="rect">
            <a:avLst/>
          </a:prstGeom>
          <a:solidFill>
            <a:srgbClr val="8A63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77240" y="1965960"/>
            <a:ext cx="4919472" cy="3657600"/>
          </a:xfrm>
          <a:prstGeom prst="roundRect">
            <a:avLst>
              <a:gd name="adj" fmla="val 6000"/>
            </a:avLst>
          </a:prstGeom>
          <a:solidFill>
            <a:srgbClr val="F7F3F4"/>
          </a:solidFill>
          <a:ln w="12700">
            <a:solidFill>
              <a:srgbClr val="D9CC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77240" y="1965960"/>
            <a:ext cx="4919472" cy="50800"/>
          </a:xfrm>
          <a:prstGeom prst="rect">
            <a:avLst/>
          </a:prstGeom>
          <a:solidFill>
            <a:srgbClr val="4A1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" y="2212848"/>
            <a:ext cx="43891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4A1C2E"/>
                </a:solidFill>
                <a:latin typeface="DejaVu Sans"/>
              </a:rPr>
              <a:t>Dondurulmasaydı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2761488"/>
            <a:ext cx="443484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23181C"/>
                </a:solidFill>
                <a:latin typeface="DejaVu Sans"/>
              </a:rPr>
              <a:t>·  Menü fiyatı bugün değişir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3328416"/>
            <a:ext cx="443484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23181C"/>
                </a:solidFill>
                <a:latin typeface="DejaVu Sans"/>
              </a:rPr>
              <a:t>·  Dünkü adisyonun tutarı da değişir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3895344"/>
            <a:ext cx="443484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23181C"/>
                </a:solidFill>
                <a:latin typeface="DejaVu Sans"/>
              </a:rPr>
              <a:t>·  Muhasebe ile kasa tutmaz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" y="4462272"/>
            <a:ext cx="443484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23181C"/>
                </a:solidFill>
                <a:latin typeface="DejaVu Sans"/>
              </a:rPr>
              <a:t>·  Geçmiş rapor her çalıştırmada farklı sonuç verir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92240" y="1965960"/>
            <a:ext cx="4919472" cy="3657600"/>
          </a:xfrm>
          <a:prstGeom prst="roundRect">
            <a:avLst>
              <a:gd name="adj" fmla="val 6000"/>
            </a:avLst>
          </a:prstGeom>
          <a:solidFill>
            <a:srgbClr val="F7F3F4"/>
          </a:solidFill>
          <a:ln w="12700">
            <a:solidFill>
              <a:srgbClr val="D9CC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492240" y="1965960"/>
            <a:ext cx="4919472" cy="50800"/>
          </a:xfrm>
          <a:prstGeom prst="rect">
            <a:avLst/>
          </a:prstGeom>
          <a:solidFill>
            <a:srgbClr val="8A63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766559" y="2212848"/>
            <a:ext cx="43891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8A6320"/>
                </a:solidFill>
                <a:latin typeface="DejaVu Sans"/>
              </a:rPr>
              <a:t>Wine House'ta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766559" y="2761488"/>
            <a:ext cx="443484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23181C"/>
                </a:solidFill>
                <a:latin typeface="DejaVu Sans"/>
              </a:rPr>
              <a:t>·  Satır oluşurken fiyat, KDV, maliyet ve ürün adı </a:t>
            </a:r>
            <a:r>
              <a:rPr sz="1250" b="1">
                <a:solidFill>
                  <a:srgbClr val="8A6320"/>
                </a:solidFill>
                <a:latin typeface="DejaVu Sans"/>
              </a:rPr>
              <a:t>kopyalanır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66559" y="3328416"/>
            <a:ext cx="443484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23181C"/>
                </a:solidFill>
                <a:latin typeface="DejaVu Sans"/>
              </a:rPr>
              <a:t>·  Menü sonradan değişse bile geçmiş hesap sabit kalır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66559" y="3895344"/>
            <a:ext cx="443484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23181C"/>
                </a:solidFill>
                <a:latin typeface="DejaVu Sans"/>
              </a:rPr>
              <a:t>·  Bir yıl sonra çalıştırılan rapor aynı sonucu verir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66559" y="4462272"/>
            <a:ext cx="443484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23181C"/>
                </a:solidFill>
                <a:latin typeface="DejaVu Sans"/>
              </a:rPr>
              <a:t>·  Gün sonu kapanışında toplamlar ayrıca dondurulur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6327648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6B5C62"/>
                </a:solidFill>
                <a:latin typeface="DejaVu Sans"/>
              </a:rPr>
              <a:t>Wine House · Aziz Şekerdil · 2026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424160" y="6327648"/>
            <a:ext cx="9601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>
                <a:solidFill>
                  <a:srgbClr val="6B5C62"/>
                </a:solidFill>
                <a:latin typeface="DejaVu Sans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66928"/>
            <a:ext cx="106070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23181C"/>
                </a:solidFill>
                <a:latin typeface="DejaVu Sans"/>
              </a:rPr>
              <a:t>Hazırlık fişi ve mutfak ekranı</a:t>
            </a:r>
          </a:p>
          <a:p>
            <a:pPr algn="l">
              <a:spcAft>
                <a:spcPts val="0"/>
              </a:spcAft>
            </a:pPr>
            <a:r>
              <a:rPr sz="1400" b="0">
                <a:solidFill>
                  <a:srgbClr val="6B5C62"/>
                </a:solidFill>
                <a:latin typeface="DejaVu Sans"/>
              </a:rPr>
              <a:t>KOT üretimi ve KDS akışı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572768"/>
            <a:ext cx="1371600" cy="38100"/>
          </a:xfrm>
          <a:prstGeom prst="rect">
            <a:avLst/>
          </a:prstGeom>
          <a:solidFill>
            <a:srgbClr val="8A63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22960" y="2150303"/>
            <a:ext cx="76200" cy="76200"/>
          </a:xfrm>
          <a:prstGeom prst="rect">
            <a:avLst/>
          </a:prstGeom>
          <a:solidFill>
            <a:srgbClr val="8A63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70432" y="1965960"/>
            <a:ext cx="1024128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>
                <a:solidFill>
                  <a:srgbClr val="23181C"/>
                </a:solidFill>
                <a:latin typeface="DejaVu Sans"/>
              </a:rPr>
              <a:t>Sipariş gönderildiğinde </a:t>
            </a:r>
            <a:r>
              <a:rPr sz="1600" b="1">
                <a:solidFill>
                  <a:srgbClr val="8A6320"/>
                </a:solidFill>
                <a:latin typeface="DejaVu Sans"/>
              </a:rPr>
              <a:t>istasyon başına</a:t>
            </a:r>
            <a:r>
              <a:rPr sz="1600" b="0">
                <a:solidFill>
                  <a:srgbClr val="23181C"/>
                </a:solidFill>
                <a:latin typeface="DejaVu Sans"/>
              </a:rPr>
              <a:t> ayrı fiş üretilir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2808671"/>
            <a:ext cx="76200" cy="76200"/>
          </a:xfrm>
          <a:prstGeom prst="rect">
            <a:avLst/>
          </a:prstGeom>
          <a:solidFill>
            <a:srgbClr val="8A63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70432" y="2624328"/>
            <a:ext cx="1024128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>
                <a:solidFill>
                  <a:srgbClr val="23181C"/>
                </a:solidFill>
                <a:latin typeface="DejaVu Sans"/>
              </a:rPr>
              <a:t>Yemek mutfağa, içecek bara, şarap sommelier ekranına düşer — otomatik</a:t>
            </a:r>
          </a:p>
        </p:txBody>
      </p:sp>
      <p:sp>
        <p:nvSpPr>
          <p:cNvPr id="8" name="Rectangle 7"/>
          <p:cNvSpPr/>
          <p:nvPr/>
        </p:nvSpPr>
        <p:spPr>
          <a:xfrm>
            <a:off x="822960" y="3467039"/>
            <a:ext cx="76200" cy="76200"/>
          </a:xfrm>
          <a:prstGeom prst="rect">
            <a:avLst/>
          </a:prstGeom>
          <a:solidFill>
            <a:srgbClr val="8A63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70432" y="3282696"/>
            <a:ext cx="1024128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>
                <a:solidFill>
                  <a:srgbClr val="23181C"/>
                </a:solidFill>
                <a:latin typeface="DejaVu Sans"/>
              </a:rPr>
              <a:t>Fiş rengi süreye göre değişir: gri → sarı → </a:t>
            </a:r>
            <a:r>
              <a:rPr sz="1600" b="1">
                <a:solidFill>
                  <a:srgbClr val="8A6320"/>
                </a:solidFill>
                <a:latin typeface="DejaVu Sans"/>
              </a:rPr>
              <a:t>kırmızı (gecikti)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" y="4125407"/>
            <a:ext cx="76200" cy="76200"/>
          </a:xfrm>
          <a:prstGeom prst="rect">
            <a:avLst/>
          </a:prstGeom>
          <a:solidFill>
            <a:srgbClr val="8A63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70432" y="3941063"/>
            <a:ext cx="1024128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>
                <a:solidFill>
                  <a:srgbClr val="23181C"/>
                </a:solidFill>
                <a:latin typeface="DejaVu Sans"/>
              </a:rPr>
              <a:t>Alerjen uyarısı fişte kırmızı satır olarak görünür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2960" y="4783775"/>
            <a:ext cx="76200" cy="76200"/>
          </a:xfrm>
          <a:prstGeom prst="rect">
            <a:avLst/>
          </a:prstGeom>
          <a:solidFill>
            <a:srgbClr val="8A63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70432" y="4599431"/>
            <a:ext cx="1024128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>
                <a:solidFill>
                  <a:srgbClr val="23181C"/>
                </a:solidFill>
                <a:latin typeface="DejaVu Sans"/>
              </a:rPr>
              <a:t>Fiş ilerletme: Sırada → Hazırlanıyor → Hazır → Servis edildi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22960" y="5442143"/>
            <a:ext cx="76200" cy="76200"/>
          </a:xfrm>
          <a:prstGeom prst="rect">
            <a:avLst/>
          </a:prstGeom>
          <a:solidFill>
            <a:srgbClr val="8A63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70432" y="5257799"/>
            <a:ext cx="1024128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>
                <a:solidFill>
                  <a:srgbClr val="23181C"/>
                </a:solidFill>
                <a:latin typeface="DejaVu Sans"/>
              </a:rPr>
              <a:t>Gönderilmiş satır asla iki kez gönderilmez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6327648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6B5C62"/>
                </a:solidFill>
                <a:latin typeface="DejaVu Sans"/>
              </a:rPr>
              <a:t>Wine House · Aziz Şekerdil · 2026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424160" y="6327648"/>
            <a:ext cx="9601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>
                <a:solidFill>
                  <a:srgbClr val="6B5C62"/>
                </a:solidFill>
                <a:latin typeface="DejaVu Sans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66928"/>
            <a:ext cx="106070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23181C"/>
                </a:solidFill>
                <a:latin typeface="DejaVu Sans"/>
              </a:rPr>
              <a:t>Hesap bölme ve ödeme</a:t>
            </a:r>
          </a:p>
          <a:p>
            <a:pPr algn="l">
              <a:spcAft>
                <a:spcPts val="0"/>
              </a:spcAft>
            </a:pPr>
            <a:r>
              <a:rPr sz="1400" b="0">
                <a:solidFill>
                  <a:srgbClr val="6B5C62"/>
                </a:solidFill>
                <a:latin typeface="DejaVu Sans"/>
              </a:rPr>
              <a:t>Koltuk bazlı bölme, çoklu ödeme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572768"/>
            <a:ext cx="1371600" cy="38100"/>
          </a:xfrm>
          <a:prstGeom prst="rect">
            <a:avLst/>
          </a:prstGeom>
          <a:solidFill>
            <a:srgbClr val="8A63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22960" y="2150303"/>
            <a:ext cx="76200" cy="76200"/>
          </a:xfrm>
          <a:prstGeom prst="rect">
            <a:avLst/>
          </a:prstGeom>
          <a:solidFill>
            <a:srgbClr val="8A63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70432" y="1965960"/>
            <a:ext cx="1024128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>
                <a:solidFill>
                  <a:srgbClr val="23181C"/>
                </a:solidFill>
                <a:latin typeface="DejaVu Sans"/>
              </a:rPr>
              <a:t>Koltuk numarasına göre otomatik bölme — her koltuk ayrı adisyon olur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2808671"/>
            <a:ext cx="76200" cy="76200"/>
          </a:xfrm>
          <a:prstGeom prst="rect">
            <a:avLst/>
          </a:prstGeom>
          <a:solidFill>
            <a:srgbClr val="8A63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70432" y="2624328"/>
            <a:ext cx="1024128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>
                <a:solidFill>
                  <a:srgbClr val="23181C"/>
                </a:solidFill>
                <a:latin typeface="DejaVu Sans"/>
              </a:rPr>
              <a:t>Adisyon birleştirme: iki masa birleşirse hesaplar da birleşir</a:t>
            </a:r>
          </a:p>
        </p:txBody>
      </p:sp>
      <p:sp>
        <p:nvSpPr>
          <p:cNvPr id="8" name="Rectangle 7"/>
          <p:cNvSpPr/>
          <p:nvPr/>
        </p:nvSpPr>
        <p:spPr>
          <a:xfrm>
            <a:off x="822960" y="3467039"/>
            <a:ext cx="76200" cy="76200"/>
          </a:xfrm>
          <a:prstGeom prst="rect">
            <a:avLst/>
          </a:prstGeom>
          <a:solidFill>
            <a:srgbClr val="8A63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70432" y="3282696"/>
            <a:ext cx="1024128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>
                <a:solidFill>
                  <a:srgbClr val="23181C"/>
                </a:solidFill>
                <a:latin typeface="DejaVu Sans"/>
              </a:rPr>
              <a:t>Nakit, kart, yemek kartı, havale, hediye çeki, sadakat puanı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" y="4125407"/>
            <a:ext cx="76200" cy="76200"/>
          </a:xfrm>
          <a:prstGeom prst="rect">
            <a:avLst/>
          </a:prstGeom>
          <a:solidFill>
            <a:srgbClr val="8A63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70432" y="3941063"/>
            <a:ext cx="1024128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>
                <a:solidFill>
                  <a:srgbClr val="23181C"/>
                </a:solidFill>
                <a:latin typeface="DejaVu Sans"/>
              </a:rPr>
              <a:t>Kısmi ödeme desteklenir; kalan borç her an görünür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2960" y="4783775"/>
            <a:ext cx="76200" cy="76200"/>
          </a:xfrm>
          <a:prstGeom prst="rect">
            <a:avLst/>
          </a:prstGeom>
          <a:solidFill>
            <a:srgbClr val="8A63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70432" y="4599431"/>
            <a:ext cx="1024128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>
                <a:solidFill>
                  <a:srgbClr val="23181C"/>
                </a:solidFill>
                <a:latin typeface="DejaVu Sans"/>
              </a:rPr>
              <a:t>Kart komisyonu otomatik hesaplanır ve net tutar raporlanır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22960" y="5442143"/>
            <a:ext cx="76200" cy="76200"/>
          </a:xfrm>
          <a:prstGeom prst="rect">
            <a:avLst/>
          </a:prstGeom>
          <a:solidFill>
            <a:srgbClr val="8A63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70432" y="5257799"/>
            <a:ext cx="1024128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8A6320"/>
                </a:solidFill>
                <a:latin typeface="DejaVu Sans"/>
              </a:rPr>
              <a:t>Sandbox modu:</a:t>
            </a:r>
            <a:r>
              <a:rPr sz="1600" b="0">
                <a:solidFill>
                  <a:srgbClr val="23181C"/>
                </a:solidFill>
                <a:latin typeface="DejaVu Sans"/>
              </a:rPr>
              <a:t> bu sürümde gerçek para hareketi yoktur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6327648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6B5C62"/>
                </a:solidFill>
                <a:latin typeface="DejaVu Sans"/>
              </a:rPr>
              <a:t>Wine House · Aziz Şekerdil · 2026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424160" y="6327648"/>
            <a:ext cx="9601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>
                <a:solidFill>
                  <a:srgbClr val="6B5C62"/>
                </a:solidFill>
                <a:latin typeface="DejaVu Sans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66928"/>
            <a:ext cx="106070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23181C"/>
                </a:solidFill>
                <a:latin typeface="DejaVu Sans"/>
              </a:rPr>
              <a:t>Gün sonu ve kasa mutabakatı</a:t>
            </a:r>
          </a:p>
          <a:p>
            <a:pPr algn="l">
              <a:spcAft>
                <a:spcPts val="0"/>
              </a:spcAft>
            </a:pPr>
            <a:r>
              <a:rPr sz="1400" b="0">
                <a:solidFill>
                  <a:srgbClr val="6B5C62"/>
                </a:solidFill>
                <a:latin typeface="DejaVu Sans"/>
              </a:rPr>
              <a:t>Kapanış bir kez yapılır ve dondurulur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572768"/>
            <a:ext cx="1371600" cy="38100"/>
          </a:xfrm>
          <a:prstGeom prst="rect">
            <a:avLst/>
          </a:prstGeom>
          <a:solidFill>
            <a:srgbClr val="8A63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22960" y="2150303"/>
            <a:ext cx="76200" cy="76200"/>
          </a:xfrm>
          <a:prstGeom prst="rect">
            <a:avLst/>
          </a:prstGeom>
          <a:solidFill>
            <a:srgbClr val="8A63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70432" y="1965960"/>
            <a:ext cx="1024128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>
                <a:solidFill>
                  <a:srgbClr val="23181C"/>
                </a:solidFill>
                <a:latin typeface="DejaVu Sans"/>
              </a:rPr>
              <a:t>Açık adisyon varken gün </a:t>
            </a:r>
            <a:r>
              <a:rPr sz="1600" b="1">
                <a:solidFill>
                  <a:srgbClr val="8A6320"/>
                </a:solidFill>
                <a:latin typeface="DejaVu Sans"/>
              </a:rPr>
              <a:t>kapatılamaz</a:t>
            </a:r>
            <a:r>
              <a:rPr sz="1600" b="0">
                <a:solidFill>
                  <a:srgbClr val="23181C"/>
                </a:solidFill>
                <a:latin typeface="DejaVu Sans"/>
              </a:rPr>
              <a:t> — eksik hesap gün sonuna karışmaz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2808671"/>
            <a:ext cx="76200" cy="76200"/>
          </a:xfrm>
          <a:prstGeom prst="rect">
            <a:avLst/>
          </a:prstGeom>
          <a:solidFill>
            <a:srgbClr val="8A63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70432" y="2624328"/>
            <a:ext cx="1024128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>
                <a:solidFill>
                  <a:srgbClr val="23181C"/>
                </a:solidFill>
                <a:latin typeface="DejaVu Sans"/>
              </a:rPr>
              <a:t>Beklenen nakit ile sayılan nakit karşılaştırılır, fark gösterilir</a:t>
            </a:r>
          </a:p>
        </p:txBody>
      </p:sp>
      <p:sp>
        <p:nvSpPr>
          <p:cNvPr id="8" name="Rectangle 7"/>
          <p:cNvSpPr/>
          <p:nvPr/>
        </p:nvSpPr>
        <p:spPr>
          <a:xfrm>
            <a:off x="822960" y="3467039"/>
            <a:ext cx="76200" cy="76200"/>
          </a:xfrm>
          <a:prstGeom prst="rect">
            <a:avLst/>
          </a:prstGeom>
          <a:solidFill>
            <a:srgbClr val="8A63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70432" y="3282696"/>
            <a:ext cx="1024128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>
                <a:solidFill>
                  <a:srgbClr val="23181C"/>
                </a:solidFill>
                <a:latin typeface="DejaVu Sans"/>
              </a:rPr>
              <a:t>Ödeme yöntemi dağılımı, iptal ve iade tutarları hesaplanır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" y="4125407"/>
            <a:ext cx="76200" cy="76200"/>
          </a:xfrm>
          <a:prstGeom prst="rect">
            <a:avLst/>
          </a:prstGeom>
          <a:solidFill>
            <a:srgbClr val="8A63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70432" y="3941063"/>
            <a:ext cx="1024128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>
                <a:solidFill>
                  <a:srgbClr val="23181C"/>
                </a:solidFill>
                <a:latin typeface="DejaVu Sans"/>
              </a:rPr>
              <a:t>Tüm toplamlar günlük özet tablosuna </a:t>
            </a:r>
            <a:r>
              <a:rPr sz="1600" b="1">
                <a:solidFill>
                  <a:srgbClr val="8A6320"/>
                </a:solidFill>
                <a:latin typeface="DejaVu Sans"/>
              </a:rPr>
              <a:t>dondurulur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2960" y="4783775"/>
            <a:ext cx="76200" cy="76200"/>
          </a:xfrm>
          <a:prstGeom prst="rect">
            <a:avLst/>
          </a:prstGeom>
          <a:solidFill>
            <a:srgbClr val="8A63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70432" y="4599431"/>
            <a:ext cx="1024128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>
                <a:solidFill>
                  <a:srgbClr val="23181C"/>
                </a:solidFill>
                <a:latin typeface="DejaVu Sans"/>
              </a:rPr>
              <a:t>Raporlar bu dondurulmuş özetten okur — geçmiş hiç değişmez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6327648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6B5C62"/>
                </a:solidFill>
                <a:latin typeface="DejaVu Sans"/>
              </a:rPr>
              <a:t>Wine House · Aziz Şekerdil · 2026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424160" y="6327648"/>
            <a:ext cx="9601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>
                <a:solidFill>
                  <a:srgbClr val="6B5C62"/>
                </a:solidFill>
                <a:latin typeface="DejaVu Sans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514600"/>
            <a:ext cx="12191969" cy="1828800"/>
          </a:xfrm>
          <a:prstGeom prst="rect">
            <a:avLst/>
          </a:prstGeom>
          <a:solidFill>
            <a:srgbClr val="F7F3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77240" y="2514600"/>
            <a:ext cx="63500" cy="1828800"/>
          </a:xfrm>
          <a:prstGeom prst="rect">
            <a:avLst/>
          </a:prstGeom>
          <a:solidFill>
            <a:srgbClr val="8A63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88720" y="2834640"/>
            <a:ext cx="96012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4000" b="1">
                <a:solidFill>
                  <a:srgbClr val="23181C"/>
                </a:solidFill>
                <a:latin typeface="DejaVu Sans"/>
              </a:rPr>
              <a:t>Dijital Şarap Kavı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8720" y="3611880"/>
            <a:ext cx="96012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>
                <a:solidFill>
                  <a:srgbClr val="8A6320"/>
                </a:solidFill>
                <a:latin typeface="DejaVu Sans"/>
              </a:rPr>
              <a:t>Sistemin ayırt edici çekirdeği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463040"/>
            <a:ext cx="3657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6B5C62"/>
                </a:solidFill>
                <a:latin typeface="DejaVu Sans"/>
              </a:rPr>
              <a:t>13 / 58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6327648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6B5C62"/>
                </a:solidFill>
                <a:latin typeface="DejaVu Sans"/>
              </a:rPr>
              <a:t>Wine House · Aziz Şekerdil ·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424160" y="6327648"/>
            <a:ext cx="9601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>
                <a:solidFill>
                  <a:srgbClr val="6B5C62"/>
                </a:solidFill>
                <a:latin typeface="DejaVu Sans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66928"/>
            <a:ext cx="106070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23181C"/>
                </a:solidFill>
                <a:latin typeface="DejaVu Sans"/>
              </a:rPr>
              <a:t>Şarap künyesi</a:t>
            </a:r>
          </a:p>
          <a:p>
            <a:pPr algn="l">
              <a:spcAft>
                <a:spcPts val="0"/>
              </a:spcAft>
            </a:pPr>
            <a:r>
              <a:rPr sz="1400" b="0">
                <a:solidFill>
                  <a:srgbClr val="6B5C62"/>
                </a:solidFill>
                <a:latin typeface="DejaVu Sans"/>
              </a:rPr>
              <a:t>Bir sommelier'nin bilmek istediği her şey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572768"/>
            <a:ext cx="1371600" cy="38100"/>
          </a:xfrm>
          <a:prstGeom prst="rect">
            <a:avLst/>
          </a:prstGeom>
          <a:solidFill>
            <a:srgbClr val="8A63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22960" y="2125065"/>
            <a:ext cx="76200" cy="76200"/>
          </a:xfrm>
          <a:prstGeom prst="rect">
            <a:avLst/>
          </a:prstGeom>
          <a:solidFill>
            <a:srgbClr val="8A63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70432" y="1965960"/>
            <a:ext cx="10241280" cy="56823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0">
                <a:solidFill>
                  <a:srgbClr val="23181C"/>
                </a:solidFill>
                <a:latin typeface="DejaVu Sans"/>
              </a:rPr>
              <a:t>Üretici, bağ, ülke → bölge → apelasyon hiyerarşisi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2693299"/>
            <a:ext cx="76200" cy="76200"/>
          </a:xfrm>
          <a:prstGeom prst="rect">
            <a:avLst/>
          </a:prstGeom>
          <a:solidFill>
            <a:srgbClr val="8A63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70432" y="2534194"/>
            <a:ext cx="10241280" cy="56823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0">
                <a:solidFill>
                  <a:srgbClr val="23181C"/>
                </a:solidFill>
                <a:latin typeface="DejaVu Sans"/>
              </a:rPr>
              <a:t>Üzüm bileşimi ve oranları — %60 Öküzgözü, %40 Boğazkere</a:t>
            </a:r>
          </a:p>
        </p:txBody>
      </p:sp>
      <p:sp>
        <p:nvSpPr>
          <p:cNvPr id="8" name="Rectangle 7"/>
          <p:cNvSpPr/>
          <p:nvPr/>
        </p:nvSpPr>
        <p:spPr>
          <a:xfrm>
            <a:off x="822960" y="3261534"/>
            <a:ext cx="76200" cy="76200"/>
          </a:xfrm>
          <a:prstGeom prst="rect">
            <a:avLst/>
          </a:prstGeom>
          <a:solidFill>
            <a:srgbClr val="8A63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70432" y="3102428"/>
            <a:ext cx="10241280" cy="56823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0">
                <a:solidFill>
                  <a:srgbClr val="23181C"/>
                </a:solidFill>
                <a:latin typeface="DejaVu Sans"/>
              </a:rPr>
              <a:t>Rekolte, alkol oranı, şişe hacmi, sülfit ve vegan bilgisi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" y="3829768"/>
            <a:ext cx="76200" cy="76200"/>
          </a:xfrm>
          <a:prstGeom prst="rect">
            <a:avLst/>
          </a:prstGeom>
          <a:solidFill>
            <a:srgbClr val="8A63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70432" y="3670662"/>
            <a:ext cx="10241280" cy="56823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0">
                <a:solidFill>
                  <a:srgbClr val="23181C"/>
                </a:solidFill>
                <a:latin typeface="DejaVu Sans"/>
              </a:rPr>
              <a:t>Tadım profili: gövde · asidite · tanen · tatlılık (0–5 ölçek)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2960" y="4398002"/>
            <a:ext cx="76200" cy="76200"/>
          </a:xfrm>
          <a:prstGeom prst="rect">
            <a:avLst/>
          </a:prstGeom>
          <a:solidFill>
            <a:srgbClr val="8A63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70432" y="4238897"/>
            <a:ext cx="10241280" cy="56823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0">
                <a:solidFill>
                  <a:srgbClr val="23181C"/>
                </a:solidFill>
                <a:latin typeface="DejaVu Sans"/>
              </a:rPr>
              <a:t>Aroma notları, servis sıcaklığı, dekantasyon süresi, kadeh tipi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22960" y="4966237"/>
            <a:ext cx="76200" cy="76200"/>
          </a:xfrm>
          <a:prstGeom prst="rect">
            <a:avLst/>
          </a:prstGeom>
          <a:solidFill>
            <a:srgbClr val="8A63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70432" y="4807131"/>
            <a:ext cx="10241280" cy="56823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0">
                <a:solidFill>
                  <a:srgbClr val="23181C"/>
                </a:solidFill>
                <a:latin typeface="DejaVu Sans"/>
              </a:rPr>
              <a:t>İçim aralığı: başlangıç · zirve · bitiş yılı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22960" y="5534471"/>
            <a:ext cx="76200" cy="76200"/>
          </a:xfrm>
          <a:prstGeom prst="rect">
            <a:avLst/>
          </a:prstGeom>
          <a:solidFill>
            <a:srgbClr val="8A63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170432" y="5375365"/>
            <a:ext cx="10241280" cy="56823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0">
                <a:solidFill>
                  <a:srgbClr val="23181C"/>
                </a:solidFill>
                <a:latin typeface="DejaVu Sans"/>
              </a:rPr>
              <a:t>Barkod, iç QR kodu, etiket fotoğrafı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6327648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6B5C62"/>
                </a:solidFill>
                <a:latin typeface="DejaVu Sans"/>
              </a:rPr>
              <a:t>Wine House · Aziz Şekerdil · 2026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424160" y="6327648"/>
            <a:ext cx="9601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>
                <a:solidFill>
                  <a:srgbClr val="6B5C62"/>
                </a:solidFill>
                <a:latin typeface="DejaVu Sans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66928"/>
            <a:ext cx="106070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23181C"/>
                </a:solidFill>
                <a:latin typeface="DejaVu Sans"/>
              </a:rPr>
              <a:t>Kav yerleşimi ve saklama koşulları</a:t>
            </a:r>
          </a:p>
          <a:p>
            <a:pPr algn="l">
              <a:spcAft>
                <a:spcPts val="0"/>
              </a:spcAft>
            </a:pPr>
            <a:r>
              <a:rPr sz="1400" b="0">
                <a:solidFill>
                  <a:srgbClr val="6B5C62"/>
                </a:solidFill>
                <a:latin typeface="DejaVu Sans"/>
              </a:rPr>
              <a:t>Envanterin fiziksel gerçekliği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572768"/>
            <a:ext cx="1371600" cy="38100"/>
          </a:xfrm>
          <a:prstGeom prst="rect">
            <a:avLst/>
          </a:prstGeom>
          <a:solidFill>
            <a:srgbClr val="8A63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22960" y="2150303"/>
            <a:ext cx="76200" cy="76200"/>
          </a:xfrm>
          <a:prstGeom prst="rect">
            <a:avLst/>
          </a:prstGeom>
          <a:solidFill>
            <a:srgbClr val="8A63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70432" y="1965960"/>
            <a:ext cx="1024128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>
                <a:solidFill>
                  <a:srgbClr val="23181C"/>
                </a:solidFill>
                <a:latin typeface="DejaVu Sans"/>
              </a:rPr>
              <a:t>Hiyerarşik yerleşim: kav → dolap → raf → bölme → vitrin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2808671"/>
            <a:ext cx="76200" cy="76200"/>
          </a:xfrm>
          <a:prstGeom prst="rect">
            <a:avLst/>
          </a:prstGeom>
          <a:solidFill>
            <a:srgbClr val="8A63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70432" y="2624328"/>
            <a:ext cx="1024128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>
                <a:solidFill>
                  <a:srgbClr val="23181C"/>
                </a:solidFill>
                <a:latin typeface="DejaVu Sans"/>
              </a:rPr>
              <a:t>Her konum için hedef sıcaklık, nem ve tolerans tanımlanır</a:t>
            </a:r>
          </a:p>
        </p:txBody>
      </p:sp>
      <p:sp>
        <p:nvSpPr>
          <p:cNvPr id="8" name="Rectangle 7"/>
          <p:cNvSpPr/>
          <p:nvPr/>
        </p:nvSpPr>
        <p:spPr>
          <a:xfrm>
            <a:off x="822960" y="3467039"/>
            <a:ext cx="76200" cy="76200"/>
          </a:xfrm>
          <a:prstGeom prst="rect">
            <a:avLst/>
          </a:prstGeom>
          <a:solidFill>
            <a:srgbClr val="8A63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70432" y="3282696"/>
            <a:ext cx="1024128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>
                <a:solidFill>
                  <a:srgbClr val="23181C"/>
                </a:solidFill>
                <a:latin typeface="DejaVu Sans"/>
              </a:rPr>
              <a:t>Sıcaklık/nem ölçümleri kaydedilir; aralık dışı sapma </a:t>
            </a:r>
            <a:r>
              <a:rPr sz="1600" b="1">
                <a:solidFill>
                  <a:srgbClr val="8A6320"/>
                </a:solidFill>
                <a:latin typeface="DejaVu Sans"/>
              </a:rPr>
              <a:t>uyarı üretir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" y="4125407"/>
            <a:ext cx="76200" cy="76200"/>
          </a:xfrm>
          <a:prstGeom prst="rect">
            <a:avLst/>
          </a:prstGeom>
          <a:solidFill>
            <a:srgbClr val="8A63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70432" y="3941063"/>
            <a:ext cx="1024128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>
                <a:solidFill>
                  <a:srgbClr val="23181C"/>
                </a:solidFill>
                <a:latin typeface="DejaVu Sans"/>
              </a:rPr>
              <a:t>Konum doluluk oranı ve depolanan şişe sayısı anlık görünür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2960" y="4783775"/>
            <a:ext cx="76200" cy="76200"/>
          </a:xfrm>
          <a:prstGeom prst="rect">
            <a:avLst/>
          </a:prstGeom>
          <a:solidFill>
            <a:srgbClr val="8A63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70432" y="4599431"/>
            <a:ext cx="1024128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>
                <a:solidFill>
                  <a:srgbClr val="23181C"/>
                </a:solidFill>
                <a:latin typeface="DejaVu Sans"/>
              </a:rPr>
              <a:t>Özel kav müşterilerinin şişeleri ayrı tutulur ve </a:t>
            </a:r>
            <a:r>
              <a:rPr sz="1600" b="1">
                <a:solidFill>
                  <a:srgbClr val="8A6320"/>
                </a:solidFill>
                <a:latin typeface="DejaVu Sans"/>
              </a:rPr>
              <a:t>işletme değerlemesine dâhil edilmez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6327648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6B5C62"/>
                </a:solidFill>
                <a:latin typeface="DejaVu Sans"/>
              </a:rPr>
              <a:t>Wine House · Aziz Şekerdil · 2026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424160" y="6327648"/>
            <a:ext cx="9601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>
                <a:solidFill>
                  <a:srgbClr val="6B5C62"/>
                </a:solidFill>
                <a:latin typeface="DejaVu Sans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66928"/>
            <a:ext cx="106070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23181C"/>
                </a:solidFill>
                <a:latin typeface="DejaVu Sans"/>
              </a:rPr>
              <a:t>Parti (lot) takibi ve FEFO</a:t>
            </a:r>
          </a:p>
          <a:p>
            <a:pPr algn="l">
              <a:spcAft>
                <a:spcPts val="0"/>
              </a:spcAft>
            </a:pPr>
            <a:r>
              <a:rPr sz="1400" b="0">
                <a:solidFill>
                  <a:srgbClr val="6B5C62"/>
                </a:solidFill>
                <a:latin typeface="DejaVu Sans"/>
              </a:rPr>
              <a:t>Hangi şişe önce çıkmalı?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572768"/>
            <a:ext cx="1371600" cy="38100"/>
          </a:xfrm>
          <a:prstGeom prst="rect">
            <a:avLst/>
          </a:prstGeom>
          <a:solidFill>
            <a:srgbClr val="8A63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22960" y="2150303"/>
            <a:ext cx="76200" cy="76200"/>
          </a:xfrm>
          <a:prstGeom prst="rect">
            <a:avLst/>
          </a:prstGeom>
          <a:solidFill>
            <a:srgbClr val="8A63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70432" y="1965960"/>
            <a:ext cx="1024128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>
                <a:solidFill>
                  <a:srgbClr val="23181C"/>
                </a:solidFill>
                <a:latin typeface="DejaVu Sans"/>
              </a:rPr>
              <a:t>Her satın alma partisi ayrı izlenir: giriş tarihi, birim maliyet, tedarikçi, konum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2808671"/>
            <a:ext cx="76200" cy="76200"/>
          </a:xfrm>
          <a:prstGeom prst="rect">
            <a:avLst/>
          </a:prstGeom>
          <a:solidFill>
            <a:srgbClr val="8A63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70432" y="2624328"/>
            <a:ext cx="1024128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8A6320"/>
                </a:solidFill>
                <a:latin typeface="DejaVu Sans"/>
              </a:rPr>
              <a:t>FEFO</a:t>
            </a:r>
            <a:r>
              <a:rPr sz="1600" b="0">
                <a:solidFill>
                  <a:srgbClr val="23181C"/>
                </a:solidFill>
                <a:latin typeface="DejaVu Sans"/>
              </a:rPr>
              <a:t> — en erken tüketilmesi gereken parti önce açılır</a:t>
            </a:r>
          </a:p>
        </p:txBody>
      </p:sp>
      <p:sp>
        <p:nvSpPr>
          <p:cNvPr id="8" name="Rectangle 7"/>
          <p:cNvSpPr/>
          <p:nvPr/>
        </p:nvSpPr>
        <p:spPr>
          <a:xfrm>
            <a:off x="822960" y="3467039"/>
            <a:ext cx="76200" cy="76200"/>
          </a:xfrm>
          <a:prstGeom prst="rect">
            <a:avLst/>
          </a:prstGeom>
          <a:solidFill>
            <a:srgbClr val="8A63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70432" y="3282696"/>
            <a:ext cx="1024128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>
                <a:solidFill>
                  <a:srgbClr val="23181C"/>
                </a:solidFill>
                <a:latin typeface="DejaVu Sans"/>
              </a:rPr>
              <a:t>Parti bazlı maliyet, doğru kârlılık hesabının temelidir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" y="4125407"/>
            <a:ext cx="76200" cy="76200"/>
          </a:xfrm>
          <a:prstGeom prst="rect">
            <a:avLst/>
          </a:prstGeom>
          <a:solidFill>
            <a:srgbClr val="8A63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70432" y="3941063"/>
            <a:ext cx="1024128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>
                <a:solidFill>
                  <a:srgbClr val="23181C"/>
                </a:solidFill>
                <a:latin typeface="DejaVu Sans"/>
              </a:rPr>
              <a:t>Fatura referansı ve tedarikçi bağlantısı korunur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2960" y="4783775"/>
            <a:ext cx="76200" cy="76200"/>
          </a:xfrm>
          <a:prstGeom prst="rect">
            <a:avLst/>
          </a:prstGeom>
          <a:solidFill>
            <a:srgbClr val="8A63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70432" y="4599431"/>
            <a:ext cx="1024128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>
                <a:solidFill>
                  <a:srgbClr val="23181C"/>
                </a:solidFill>
                <a:latin typeface="DejaVu Sans"/>
              </a:rPr>
              <a:t>Kalan şişe sayısı, giren şişe sayısını asla aşamaz (veritabanı kısıtı)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6327648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6B5C62"/>
                </a:solidFill>
                <a:latin typeface="DejaVu Sans"/>
              </a:rPr>
              <a:t>Wine House · Aziz Şekerdil · 2026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424160" y="6327648"/>
            <a:ext cx="9601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>
                <a:solidFill>
                  <a:srgbClr val="6B5C62"/>
                </a:solidFill>
                <a:latin typeface="DejaVu Sans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66928"/>
            <a:ext cx="106070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23181C"/>
                </a:solidFill>
                <a:latin typeface="DejaVu Sans"/>
              </a:rPr>
              <a:t>Kadeh satışı stoktan nasıl düşer?</a:t>
            </a:r>
          </a:p>
          <a:p>
            <a:pPr algn="l">
              <a:spcAft>
                <a:spcPts val="0"/>
              </a:spcAft>
            </a:pPr>
            <a:r>
              <a:rPr sz="1400" b="0">
                <a:solidFill>
                  <a:srgbClr val="6B5C62"/>
                </a:solidFill>
                <a:latin typeface="DejaVu Sans"/>
              </a:rPr>
              <a:t>Sistemin en ince iş kuralı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572768"/>
            <a:ext cx="1371600" cy="38100"/>
          </a:xfrm>
          <a:prstGeom prst="rect">
            <a:avLst/>
          </a:prstGeom>
          <a:solidFill>
            <a:srgbClr val="8A63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77240" y="2148840"/>
            <a:ext cx="749808" cy="749808"/>
          </a:xfrm>
          <a:prstGeom prst="roundRect">
            <a:avLst>
              <a:gd name="adj" fmla="val 6000"/>
            </a:avLst>
          </a:prstGeom>
          <a:solidFill>
            <a:srgbClr val="8A63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2331720"/>
            <a:ext cx="74980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DejaVu Sans"/>
              </a:rPr>
              <a:t>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627632" y="2148840"/>
            <a:ext cx="9738360" cy="749808"/>
          </a:xfrm>
          <a:prstGeom prst="roundRect">
            <a:avLst>
              <a:gd name="adj" fmla="val 6000"/>
            </a:avLst>
          </a:prstGeom>
          <a:solidFill>
            <a:srgbClr val="F7F3F4"/>
          </a:solidFill>
          <a:ln w="12700">
            <a:solidFill>
              <a:srgbClr val="D9CC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874519" y="2350008"/>
            <a:ext cx="9235440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23181C"/>
                </a:solidFill>
                <a:latin typeface="DejaVu Sans"/>
              </a:rPr>
              <a:t>Kadeh servis et (150 ml)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3044952"/>
            <a:ext cx="749808" cy="749808"/>
          </a:xfrm>
          <a:prstGeom prst="roundRect">
            <a:avLst>
              <a:gd name="adj" fmla="val 6000"/>
            </a:avLst>
          </a:prstGeom>
          <a:solidFill>
            <a:srgbClr val="8A63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3227832"/>
            <a:ext cx="74980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DejaVu Sans"/>
              </a:rPr>
              <a:t>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627632" y="3044952"/>
            <a:ext cx="9738360" cy="749808"/>
          </a:xfrm>
          <a:prstGeom prst="roundRect">
            <a:avLst>
              <a:gd name="adj" fmla="val 6000"/>
            </a:avLst>
          </a:prstGeom>
          <a:solidFill>
            <a:srgbClr val="F7F3F4"/>
          </a:solidFill>
          <a:ln w="12700">
            <a:solidFill>
              <a:srgbClr val="D9CC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874519" y="3246120"/>
            <a:ext cx="9235440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23181C"/>
                </a:solidFill>
                <a:latin typeface="DejaVu Sans"/>
              </a:rPr>
              <a:t>Yeterli hacimli açık şişe var mı?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7240" y="3941064"/>
            <a:ext cx="749808" cy="749808"/>
          </a:xfrm>
          <a:prstGeom prst="roundRect">
            <a:avLst>
              <a:gd name="adj" fmla="val 6000"/>
            </a:avLst>
          </a:prstGeom>
          <a:solidFill>
            <a:srgbClr val="8A63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4123944"/>
            <a:ext cx="74980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DejaVu Sans"/>
              </a:rPr>
              <a:t>3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627632" y="3941064"/>
            <a:ext cx="9738360" cy="749808"/>
          </a:xfrm>
          <a:prstGeom prst="roundRect">
            <a:avLst>
              <a:gd name="adj" fmla="val 6000"/>
            </a:avLst>
          </a:prstGeom>
          <a:solidFill>
            <a:srgbClr val="F7F3F4"/>
          </a:solidFill>
          <a:ln w="12700">
            <a:solidFill>
              <a:srgbClr val="D9CC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874519" y="4142232"/>
            <a:ext cx="9235440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23181C"/>
                </a:solidFill>
                <a:latin typeface="DejaVu Sans"/>
              </a:rPr>
              <a:t>Yoksa: FEFO ile parti seç → stoktan 1 şişe düş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77240" y="4837176"/>
            <a:ext cx="749808" cy="749808"/>
          </a:xfrm>
          <a:prstGeom prst="roundRect">
            <a:avLst>
              <a:gd name="adj" fmla="val 6000"/>
            </a:avLst>
          </a:prstGeom>
          <a:solidFill>
            <a:srgbClr val="8A63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" y="5020056"/>
            <a:ext cx="74980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DejaVu Sans"/>
              </a:rPr>
              <a:t>4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627632" y="4837176"/>
            <a:ext cx="9738360" cy="749808"/>
          </a:xfrm>
          <a:prstGeom prst="roundRect">
            <a:avLst>
              <a:gd name="adj" fmla="val 6000"/>
            </a:avLst>
          </a:prstGeom>
          <a:solidFill>
            <a:srgbClr val="F7F3F4"/>
          </a:solidFill>
          <a:ln w="12700">
            <a:solidFill>
              <a:srgbClr val="D9CC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874519" y="5038344"/>
            <a:ext cx="9235440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23181C"/>
                </a:solidFill>
                <a:latin typeface="DejaVu Sans"/>
              </a:rPr>
              <a:t>Açık şişenin kalan hacmini 150 ml azalt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77240" y="5733288"/>
            <a:ext cx="749808" cy="749808"/>
          </a:xfrm>
          <a:prstGeom prst="roundRect">
            <a:avLst>
              <a:gd name="adj" fmla="val 6000"/>
            </a:avLst>
          </a:prstGeom>
          <a:solidFill>
            <a:srgbClr val="8A63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77240" y="5916168"/>
            <a:ext cx="74980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DejaVu Sans"/>
              </a:rPr>
              <a:t>5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627632" y="5733288"/>
            <a:ext cx="9738360" cy="749808"/>
          </a:xfrm>
          <a:prstGeom prst="roundRect">
            <a:avLst>
              <a:gd name="adj" fmla="val 6000"/>
            </a:avLst>
          </a:prstGeom>
          <a:solidFill>
            <a:srgbClr val="F7F3F4"/>
          </a:solidFill>
          <a:ln w="12700">
            <a:solidFill>
              <a:srgbClr val="D9CC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874519" y="5934455"/>
            <a:ext cx="9235440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23181C"/>
                </a:solidFill>
                <a:latin typeface="DejaVu Sans"/>
              </a:rPr>
              <a:t>Servis kaydı yaz (satış / tadım / ikram / dökülme)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7240" y="5760720"/>
            <a:ext cx="1060704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6B5C62"/>
                </a:solidFill>
                <a:latin typeface="DejaVu Sans"/>
              </a:rPr>
              <a:t>Yarım kadehten az kalırsa şişe otomatik olarak 'bitti' işaretlenir. İki garson aynı anda son şişeyi açamaz — satır kilidi vardır.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7240" y="6327648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6B5C62"/>
                </a:solidFill>
                <a:latin typeface="DejaVu Sans"/>
              </a:rPr>
              <a:t>Wine House · Aziz Şekerdil · 2026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424160" y="6327648"/>
            <a:ext cx="9601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>
                <a:solidFill>
                  <a:srgbClr val="6B5C62"/>
                </a:solidFill>
                <a:latin typeface="DejaVu Sans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66928"/>
            <a:ext cx="106070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23181C"/>
                </a:solidFill>
                <a:latin typeface="DejaVu Sans"/>
              </a:rPr>
              <a:t>Verim analizi</a:t>
            </a:r>
          </a:p>
          <a:p>
            <a:pPr algn="l">
              <a:spcAft>
                <a:spcPts val="0"/>
              </a:spcAft>
            </a:pPr>
            <a:r>
              <a:rPr sz="1400" b="0">
                <a:solidFill>
                  <a:srgbClr val="6B5C62"/>
                </a:solidFill>
                <a:latin typeface="DejaVu Sans"/>
              </a:rPr>
              <a:t>750 ml şişe · 150 ml kadeh · teorik 5 kadeh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572768"/>
            <a:ext cx="1371600" cy="38100"/>
          </a:xfrm>
          <a:prstGeom prst="rect">
            <a:avLst/>
          </a:prstGeom>
          <a:solidFill>
            <a:srgbClr val="8A63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77240" y="2011680"/>
            <a:ext cx="3334512" cy="1508760"/>
          </a:xfrm>
          <a:prstGeom prst="roundRect">
            <a:avLst>
              <a:gd name="adj" fmla="val 6000"/>
            </a:avLst>
          </a:prstGeom>
          <a:solidFill>
            <a:srgbClr val="F7F3F4"/>
          </a:solidFill>
          <a:ln w="12700">
            <a:solidFill>
              <a:srgbClr val="D9CC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77240" y="2011680"/>
            <a:ext cx="50800" cy="1508760"/>
          </a:xfrm>
          <a:prstGeom prst="rect">
            <a:avLst/>
          </a:prstGeom>
          <a:solidFill>
            <a:srgbClr val="8A63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96695" y="2194560"/>
            <a:ext cx="2968752" cy="123443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8A6320"/>
                </a:solidFill>
                <a:latin typeface="DejaVu Sans"/>
              </a:rPr>
              <a:t>5</a:t>
            </a:r>
          </a:p>
          <a:p>
            <a:pPr algn="l">
              <a:spcAft>
                <a:spcPts val="0"/>
              </a:spcAft>
            </a:pPr>
            <a:r>
              <a:rPr sz="1100" b="0">
                <a:solidFill>
                  <a:srgbClr val="6B5C62"/>
                </a:solidFill>
                <a:latin typeface="DejaVu Sans"/>
              </a:rPr>
              <a:t>beklenen kadeh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12920" y="2011680"/>
            <a:ext cx="3334512" cy="1508760"/>
          </a:xfrm>
          <a:prstGeom prst="roundRect">
            <a:avLst>
              <a:gd name="adj" fmla="val 6000"/>
            </a:avLst>
          </a:prstGeom>
          <a:solidFill>
            <a:srgbClr val="F7F3F4"/>
          </a:solidFill>
          <a:ln w="12700">
            <a:solidFill>
              <a:srgbClr val="D9CC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312920" y="2011680"/>
            <a:ext cx="50800" cy="1508760"/>
          </a:xfrm>
          <a:prstGeom prst="rect">
            <a:avLst/>
          </a:prstGeom>
          <a:solidFill>
            <a:srgbClr val="8A63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32376" y="2194560"/>
            <a:ext cx="2968752" cy="123443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8A6320"/>
                </a:solidFill>
                <a:latin typeface="DejaVu Sans"/>
              </a:rPr>
              <a:t>4</a:t>
            </a:r>
          </a:p>
          <a:p>
            <a:pPr algn="l">
              <a:spcAft>
                <a:spcPts val="0"/>
              </a:spcAft>
            </a:pPr>
            <a:r>
              <a:rPr sz="1100" b="0">
                <a:solidFill>
                  <a:srgbClr val="6B5C62"/>
                </a:solidFill>
                <a:latin typeface="DejaVu Sans"/>
              </a:rPr>
              <a:t>gerçekleşen kadeh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848600" y="2011680"/>
            <a:ext cx="3334512" cy="1508760"/>
          </a:xfrm>
          <a:prstGeom prst="roundRect">
            <a:avLst>
              <a:gd name="adj" fmla="val 6000"/>
            </a:avLst>
          </a:prstGeom>
          <a:solidFill>
            <a:srgbClr val="F7F3F4"/>
          </a:solidFill>
          <a:ln w="12700">
            <a:solidFill>
              <a:srgbClr val="D9CC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848600" y="2011680"/>
            <a:ext cx="50800" cy="1508760"/>
          </a:xfrm>
          <a:prstGeom prst="rect">
            <a:avLst/>
          </a:prstGeom>
          <a:solidFill>
            <a:srgbClr val="8A63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68056" y="2194560"/>
            <a:ext cx="2968752" cy="123443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8A6320"/>
                </a:solidFill>
                <a:latin typeface="DejaVu Sans"/>
              </a:rPr>
              <a:t>600 ml</a:t>
            </a:r>
          </a:p>
          <a:p>
            <a:pPr algn="l">
              <a:spcAft>
                <a:spcPts val="0"/>
              </a:spcAft>
            </a:pPr>
            <a:r>
              <a:rPr sz="1100" b="0">
                <a:solidFill>
                  <a:srgbClr val="6B5C62"/>
                </a:solidFill>
                <a:latin typeface="DejaVu Sans"/>
              </a:rPr>
              <a:t>servis edilen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77240" y="3703320"/>
            <a:ext cx="3334512" cy="1508760"/>
          </a:xfrm>
          <a:prstGeom prst="roundRect">
            <a:avLst>
              <a:gd name="adj" fmla="val 6000"/>
            </a:avLst>
          </a:prstGeom>
          <a:solidFill>
            <a:srgbClr val="F7F3F4"/>
          </a:solidFill>
          <a:ln w="12700">
            <a:solidFill>
              <a:srgbClr val="D9CC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77240" y="3703320"/>
            <a:ext cx="50800" cy="1508760"/>
          </a:xfrm>
          <a:prstGeom prst="rect">
            <a:avLst/>
          </a:prstGeom>
          <a:solidFill>
            <a:srgbClr val="8A63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96695" y="3886200"/>
            <a:ext cx="2968752" cy="123443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8A6320"/>
                </a:solidFill>
                <a:latin typeface="DejaVu Sans"/>
              </a:rPr>
              <a:t>%80</a:t>
            </a:r>
          </a:p>
          <a:p>
            <a:pPr algn="l">
              <a:spcAft>
                <a:spcPts val="0"/>
              </a:spcAft>
            </a:pPr>
            <a:r>
              <a:rPr sz="1100" b="0">
                <a:solidFill>
                  <a:srgbClr val="6B5C62"/>
                </a:solidFill>
                <a:latin typeface="DejaVu Sans"/>
              </a:rPr>
              <a:t>gerçekleşen verim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312920" y="3703320"/>
            <a:ext cx="3334512" cy="1508760"/>
          </a:xfrm>
          <a:prstGeom prst="roundRect">
            <a:avLst>
              <a:gd name="adj" fmla="val 6000"/>
            </a:avLst>
          </a:prstGeom>
          <a:solidFill>
            <a:srgbClr val="F7F3F4"/>
          </a:solidFill>
          <a:ln w="12700">
            <a:solidFill>
              <a:srgbClr val="D9CC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312920" y="3703320"/>
            <a:ext cx="50800" cy="1508760"/>
          </a:xfrm>
          <a:prstGeom prst="rect">
            <a:avLst/>
          </a:prstGeom>
          <a:solidFill>
            <a:srgbClr val="8A63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32376" y="3886200"/>
            <a:ext cx="2968752" cy="123443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8A6320"/>
                </a:solidFill>
                <a:latin typeface="DejaVu Sans"/>
              </a:rPr>
              <a:t>150 ml</a:t>
            </a:r>
          </a:p>
          <a:p>
            <a:pPr algn="l">
              <a:spcAft>
                <a:spcPts val="0"/>
              </a:spcAft>
            </a:pPr>
            <a:r>
              <a:rPr sz="1100" b="0">
                <a:solidFill>
                  <a:srgbClr val="6B5C62"/>
                </a:solidFill>
                <a:latin typeface="DejaVu Sans"/>
              </a:rPr>
              <a:t>kayıp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848600" y="3703320"/>
            <a:ext cx="3334512" cy="1508760"/>
          </a:xfrm>
          <a:prstGeom prst="roundRect">
            <a:avLst>
              <a:gd name="adj" fmla="val 6000"/>
            </a:avLst>
          </a:prstGeom>
          <a:solidFill>
            <a:srgbClr val="F7F3F4"/>
          </a:solidFill>
          <a:ln w="12700">
            <a:solidFill>
              <a:srgbClr val="D9CC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848600" y="3703320"/>
            <a:ext cx="50800" cy="1508760"/>
          </a:xfrm>
          <a:prstGeom prst="rect">
            <a:avLst/>
          </a:prstGeom>
          <a:solidFill>
            <a:srgbClr val="8A63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068056" y="3886200"/>
            <a:ext cx="2968752" cy="123443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8A6320"/>
                </a:solidFill>
                <a:latin typeface="DejaVu Sans"/>
              </a:rPr>
              <a:t>1 kadeh</a:t>
            </a:r>
          </a:p>
          <a:p>
            <a:pPr algn="l">
              <a:spcAft>
                <a:spcPts val="0"/>
              </a:spcAft>
            </a:pPr>
            <a:r>
              <a:rPr sz="1100" b="0">
                <a:solidFill>
                  <a:srgbClr val="6B5C62"/>
                </a:solidFill>
                <a:latin typeface="DejaVu Sans"/>
              </a:rPr>
              <a:t>kaçan gelir · her şişede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7240" y="5779008"/>
            <a:ext cx="1060704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6B5C62"/>
                </a:solidFill>
                <a:latin typeface="DejaVu Sans"/>
              </a:rPr>
              <a:t>Teorik ile gerçekleşen arasındaki fark dökülme veya ölçüsüz servisi işaret eder. Kadeh/şişe karşılaştırma raporu bunu şişe şişe gösterir.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7240" y="6327648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6B5C62"/>
                </a:solidFill>
                <a:latin typeface="DejaVu Sans"/>
              </a:rPr>
              <a:t>Wine House · Aziz Şekerdil · 2026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424160" y="6327648"/>
            <a:ext cx="9601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>
                <a:solidFill>
                  <a:srgbClr val="6B5C62"/>
                </a:solidFill>
                <a:latin typeface="DejaVu Sans"/>
              </a:rP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66928"/>
            <a:ext cx="106070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23181C"/>
                </a:solidFill>
                <a:latin typeface="DejaVu Sans"/>
              </a:rPr>
              <a:t>Açılmış şişe ve kusur takibi</a:t>
            </a:r>
          </a:p>
          <a:p>
            <a:pPr algn="l">
              <a:spcAft>
                <a:spcPts val="0"/>
              </a:spcAft>
            </a:pPr>
            <a:r>
              <a:rPr sz="1400" b="0">
                <a:solidFill>
                  <a:srgbClr val="6B5C62"/>
                </a:solidFill>
                <a:latin typeface="DejaVu Sans"/>
              </a:rPr>
              <a:t>Kayıp nerede oluşuyor?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572768"/>
            <a:ext cx="1371600" cy="38100"/>
          </a:xfrm>
          <a:prstGeom prst="rect">
            <a:avLst/>
          </a:prstGeom>
          <a:solidFill>
            <a:srgbClr val="8A63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22960" y="2150303"/>
            <a:ext cx="76200" cy="76200"/>
          </a:xfrm>
          <a:prstGeom prst="rect">
            <a:avLst/>
          </a:prstGeom>
          <a:solidFill>
            <a:srgbClr val="8A63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70432" y="1965960"/>
            <a:ext cx="1024128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>
                <a:solidFill>
                  <a:srgbClr val="23181C"/>
                </a:solidFill>
                <a:latin typeface="DejaVu Sans"/>
              </a:rPr>
              <a:t>Servis yöntemine göre tazelik süresi: standart 48 saat · koruma sistemi 1 hafta · iğne sistemi 30 gün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2808671"/>
            <a:ext cx="76200" cy="76200"/>
          </a:xfrm>
          <a:prstGeom prst="rect">
            <a:avLst/>
          </a:prstGeom>
          <a:solidFill>
            <a:srgbClr val="8A63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70432" y="2624328"/>
            <a:ext cx="1024128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>
                <a:solidFill>
                  <a:srgbClr val="23181C"/>
                </a:solidFill>
                <a:latin typeface="DejaVu Sans"/>
              </a:rPr>
              <a:t>Süresini aşan şişeler ekranda işaretlenir</a:t>
            </a:r>
          </a:p>
        </p:txBody>
      </p:sp>
      <p:sp>
        <p:nvSpPr>
          <p:cNvPr id="8" name="Rectangle 7"/>
          <p:cNvSpPr/>
          <p:nvPr/>
        </p:nvSpPr>
        <p:spPr>
          <a:xfrm>
            <a:off x="822960" y="3467039"/>
            <a:ext cx="76200" cy="76200"/>
          </a:xfrm>
          <a:prstGeom prst="rect">
            <a:avLst/>
          </a:prstGeom>
          <a:solidFill>
            <a:srgbClr val="8A63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70432" y="3282696"/>
            <a:ext cx="1024128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>
                <a:solidFill>
                  <a:srgbClr val="23181C"/>
                </a:solidFill>
                <a:latin typeface="DejaVu Sans"/>
              </a:rPr>
              <a:t>Kusur kaydı: mantar hatası (TCA), oksidasyon, redüksiyon, ısı hasarı, dökülme, kırılma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" y="4125407"/>
            <a:ext cx="76200" cy="76200"/>
          </a:xfrm>
          <a:prstGeom prst="rect">
            <a:avLst/>
          </a:prstGeom>
          <a:solidFill>
            <a:srgbClr val="8A63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70432" y="3941063"/>
            <a:ext cx="1024128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>
                <a:solidFill>
                  <a:srgbClr val="23181C"/>
                </a:solidFill>
                <a:latin typeface="DejaVu Sans"/>
              </a:rPr>
              <a:t>Her kusur stoktan düşer ve </a:t>
            </a:r>
            <a:r>
              <a:rPr sz="1600" b="1">
                <a:solidFill>
                  <a:srgbClr val="8A6320"/>
                </a:solidFill>
                <a:latin typeface="DejaVu Sans"/>
              </a:rPr>
              <a:t>tahmini kayıp</a:t>
            </a:r>
            <a:r>
              <a:rPr sz="1600" b="0">
                <a:solidFill>
                  <a:srgbClr val="23181C"/>
                </a:solidFill>
                <a:latin typeface="DejaVu Sans"/>
              </a:rPr>
              <a:t> hesaplanır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2960" y="4783775"/>
            <a:ext cx="76200" cy="76200"/>
          </a:xfrm>
          <a:prstGeom prst="rect">
            <a:avLst/>
          </a:prstGeom>
          <a:solidFill>
            <a:srgbClr val="8A63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70432" y="4599431"/>
            <a:ext cx="1024128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>
                <a:solidFill>
                  <a:srgbClr val="23181C"/>
                </a:solidFill>
                <a:latin typeface="DejaVu Sans"/>
              </a:rPr>
              <a:t>Çözüm izlenir: tedarikçiye iade · zayi · misafire yenisi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6327648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6B5C62"/>
                </a:solidFill>
                <a:latin typeface="DejaVu Sans"/>
              </a:rPr>
              <a:t>Wine House · Aziz Şekerdil · 2026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424160" y="6327648"/>
            <a:ext cx="9601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>
                <a:solidFill>
                  <a:srgbClr val="6B5C62"/>
                </a:solidFill>
                <a:latin typeface="DejaVu Sans"/>
              </a:rP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66928"/>
            <a:ext cx="106070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23181C"/>
                </a:solidFill>
                <a:latin typeface="DejaVu Sans"/>
              </a:rPr>
              <a:t>İçim aralığı ve kav değerlemesi</a:t>
            </a:r>
          </a:p>
          <a:p>
            <a:pPr algn="l">
              <a:spcAft>
                <a:spcPts val="0"/>
              </a:spcAft>
            </a:pPr>
            <a:r>
              <a:rPr sz="1400" b="0">
                <a:solidFill>
                  <a:srgbClr val="6B5C62"/>
                </a:solidFill>
                <a:latin typeface="DejaVu Sans"/>
              </a:rPr>
              <a:t>Envanter bir varlıktır, zamanla değişir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572768"/>
            <a:ext cx="1371600" cy="38100"/>
          </a:xfrm>
          <a:prstGeom prst="rect">
            <a:avLst/>
          </a:prstGeom>
          <a:solidFill>
            <a:srgbClr val="8A63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22960" y="2150303"/>
            <a:ext cx="76200" cy="76200"/>
          </a:xfrm>
          <a:prstGeom prst="rect">
            <a:avLst/>
          </a:prstGeom>
          <a:solidFill>
            <a:srgbClr val="8A63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70432" y="1965960"/>
            <a:ext cx="1024128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>
                <a:solidFill>
                  <a:srgbClr val="23181C"/>
                </a:solidFill>
                <a:latin typeface="DejaVu Sans"/>
              </a:rPr>
              <a:t>Her şarap için durum hesaplanır: erken · içilebilir · </a:t>
            </a:r>
            <a:r>
              <a:rPr sz="1600" b="1">
                <a:solidFill>
                  <a:srgbClr val="8A6320"/>
                </a:solidFill>
                <a:latin typeface="DejaVu Sans"/>
              </a:rPr>
              <a:t>zirvede</a:t>
            </a:r>
            <a:r>
              <a:rPr sz="1600" b="0">
                <a:solidFill>
                  <a:srgbClr val="23181C"/>
                </a:solidFill>
                <a:latin typeface="DejaVu Sans"/>
              </a:rPr>
              <a:t> · yakında tüketilmeli · zirveyi geçmiş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2808671"/>
            <a:ext cx="76200" cy="76200"/>
          </a:xfrm>
          <a:prstGeom prst="rect">
            <a:avLst/>
          </a:prstGeom>
          <a:solidFill>
            <a:srgbClr val="8A63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70432" y="2624328"/>
            <a:ext cx="1024128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>
                <a:solidFill>
                  <a:srgbClr val="23181C"/>
                </a:solidFill>
                <a:latin typeface="DejaVu Sans"/>
              </a:rPr>
              <a:t>Zirveyi geçmek üzere olan şişeler öncelik listesine düşer</a:t>
            </a:r>
          </a:p>
        </p:txBody>
      </p:sp>
      <p:sp>
        <p:nvSpPr>
          <p:cNvPr id="8" name="Rectangle 7"/>
          <p:cNvSpPr/>
          <p:nvPr/>
        </p:nvSpPr>
        <p:spPr>
          <a:xfrm>
            <a:off x="822960" y="3467039"/>
            <a:ext cx="76200" cy="76200"/>
          </a:xfrm>
          <a:prstGeom prst="rect">
            <a:avLst/>
          </a:prstGeom>
          <a:solidFill>
            <a:srgbClr val="8A63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70432" y="3282696"/>
            <a:ext cx="1024128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>
                <a:solidFill>
                  <a:srgbClr val="23181C"/>
                </a:solidFill>
                <a:latin typeface="DejaVu Sans"/>
              </a:rPr>
              <a:t>Kav değerlemesi: maliyet değeri, satış değeri, potansiyel kâr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" y="4125407"/>
            <a:ext cx="76200" cy="76200"/>
          </a:xfrm>
          <a:prstGeom prst="rect">
            <a:avLst/>
          </a:prstGeom>
          <a:solidFill>
            <a:srgbClr val="8A63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70432" y="3941063"/>
            <a:ext cx="1024128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>
                <a:solidFill>
                  <a:srgbClr val="23181C"/>
                </a:solidFill>
                <a:latin typeface="DejaVu Sans"/>
              </a:rPr>
              <a:t>Açık şişelerin kalan hacmi de değerlemeye dâhil edilir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2960" y="4783775"/>
            <a:ext cx="76200" cy="76200"/>
          </a:xfrm>
          <a:prstGeom prst="rect">
            <a:avLst/>
          </a:prstGeom>
          <a:solidFill>
            <a:srgbClr val="8A63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70432" y="4599431"/>
            <a:ext cx="1024128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>
                <a:solidFill>
                  <a:srgbClr val="23181C"/>
                </a:solidFill>
                <a:latin typeface="DejaVu Sans"/>
              </a:rPr>
              <a:t>Minimum şişe sayısının altına düşen şaraplar için kritik stok uyarısı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6327648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6B5C62"/>
                </a:solidFill>
                <a:latin typeface="DejaVu Sans"/>
              </a:rPr>
              <a:t>Wine House · Aziz Şekerdil · 2026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424160" y="6327648"/>
            <a:ext cx="9601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>
                <a:solidFill>
                  <a:srgbClr val="6B5C62"/>
                </a:solidFill>
                <a:latin typeface="DejaVu Sans"/>
              </a:rPr>
              <a:t>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66928"/>
            <a:ext cx="106070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23181C"/>
                </a:solidFill>
                <a:latin typeface="DejaVu Sans"/>
              </a:rPr>
              <a:t>Mükerrer ve şüpheli kayıt tespiti</a:t>
            </a:r>
          </a:p>
          <a:p>
            <a:pPr algn="l">
              <a:spcAft>
                <a:spcPts val="0"/>
              </a:spcAft>
            </a:pPr>
            <a:r>
              <a:rPr sz="1400" b="0">
                <a:solidFill>
                  <a:srgbClr val="6B5C62"/>
                </a:solidFill>
                <a:latin typeface="DejaVu Sans"/>
              </a:rPr>
              <a:t>Veri kalitesi kendiliğinden bozulmaz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572768"/>
            <a:ext cx="1371600" cy="38100"/>
          </a:xfrm>
          <a:prstGeom prst="rect">
            <a:avLst/>
          </a:prstGeom>
          <a:solidFill>
            <a:srgbClr val="8A63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22960" y="2150303"/>
            <a:ext cx="76200" cy="76200"/>
          </a:xfrm>
          <a:prstGeom prst="rect">
            <a:avLst/>
          </a:prstGeom>
          <a:solidFill>
            <a:srgbClr val="8A63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70432" y="1965960"/>
            <a:ext cx="1024128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>
                <a:solidFill>
                  <a:srgbClr val="23181C"/>
                </a:solidFill>
                <a:latin typeface="DejaVu Sans"/>
              </a:rPr>
              <a:t>Aynı barkodun iki farklı kayıtta kullanılması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2808671"/>
            <a:ext cx="76200" cy="76200"/>
          </a:xfrm>
          <a:prstGeom prst="rect">
            <a:avLst/>
          </a:prstGeom>
          <a:solidFill>
            <a:srgbClr val="8A63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70432" y="2624328"/>
            <a:ext cx="1024128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>
                <a:solidFill>
                  <a:srgbClr val="23181C"/>
                </a:solidFill>
                <a:latin typeface="DejaVu Sans"/>
              </a:rPr>
              <a:t>Aynı üretici + çok benzer ad + aynı rekolte (bulanık eşleştirme)</a:t>
            </a:r>
          </a:p>
        </p:txBody>
      </p:sp>
      <p:sp>
        <p:nvSpPr>
          <p:cNvPr id="8" name="Rectangle 7"/>
          <p:cNvSpPr/>
          <p:nvPr/>
        </p:nvSpPr>
        <p:spPr>
          <a:xfrm>
            <a:off x="822960" y="3467039"/>
            <a:ext cx="76200" cy="76200"/>
          </a:xfrm>
          <a:prstGeom prst="rect">
            <a:avLst/>
          </a:prstGeom>
          <a:solidFill>
            <a:srgbClr val="8A63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70432" y="3282696"/>
            <a:ext cx="1024128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>
                <a:solidFill>
                  <a:srgbClr val="23181C"/>
                </a:solidFill>
                <a:latin typeface="DejaVu Sans"/>
              </a:rPr>
              <a:t>Mantıksız rekolte — gelecek yıl veya 120 yıldan eski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" y="4125407"/>
            <a:ext cx="76200" cy="76200"/>
          </a:xfrm>
          <a:prstGeom prst="rect">
            <a:avLst/>
          </a:prstGeom>
          <a:solidFill>
            <a:srgbClr val="8A63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70432" y="3941063"/>
            <a:ext cx="1024128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>
                <a:solidFill>
                  <a:srgbClr val="23181C"/>
                </a:solidFill>
                <a:latin typeface="DejaVu Sans"/>
              </a:rPr>
              <a:t>Fiyat anomalisi — satış fiyatı alış fiyatının altında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2960" y="4783775"/>
            <a:ext cx="76200" cy="76200"/>
          </a:xfrm>
          <a:prstGeom prst="rect">
            <a:avLst/>
          </a:prstGeom>
          <a:solidFill>
            <a:srgbClr val="8A63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70432" y="4599431"/>
            <a:ext cx="1024128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8A6320"/>
                </a:solidFill>
                <a:latin typeface="DejaVu Sans"/>
              </a:rPr>
              <a:t>Sistem hiçbir kaydı kendiliğinden silmez veya birleştirmez</a:t>
            </a:r>
            <a:r>
              <a:rPr sz="1600" b="0">
                <a:solidFill>
                  <a:srgbClr val="23181C"/>
                </a:solidFill>
                <a:latin typeface="DejaVu Sans"/>
              </a:rPr>
              <a:t> — yalnızca inceleme için uyarır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6327648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6B5C62"/>
                </a:solidFill>
                <a:latin typeface="DejaVu Sans"/>
              </a:rPr>
              <a:t>Wine House · Aziz Şekerdil · 2026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424160" y="6327648"/>
            <a:ext cx="9601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>
                <a:solidFill>
                  <a:srgbClr val="6B5C62"/>
                </a:solidFill>
                <a:latin typeface="DejaVu Sans"/>
              </a:rPr>
              <a:t>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514600"/>
            <a:ext cx="12191969" cy="1828800"/>
          </a:xfrm>
          <a:prstGeom prst="rect">
            <a:avLst/>
          </a:prstGeom>
          <a:solidFill>
            <a:srgbClr val="F7F3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77240" y="2514600"/>
            <a:ext cx="63500" cy="1828800"/>
          </a:xfrm>
          <a:prstGeom prst="rect">
            <a:avLst/>
          </a:prstGeom>
          <a:solidFill>
            <a:srgbClr val="8A63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88720" y="2834640"/>
            <a:ext cx="96012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4000" b="1">
                <a:solidFill>
                  <a:srgbClr val="23181C"/>
                </a:solidFill>
                <a:latin typeface="DejaVu Sans"/>
              </a:rPr>
              <a:t>Menü, Stok ve Maliyet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8720" y="3611880"/>
            <a:ext cx="96012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>
                <a:solidFill>
                  <a:srgbClr val="8A6320"/>
                </a:solidFill>
                <a:latin typeface="DejaVu Sans"/>
              </a:rPr>
              <a:t>Kârlılığın sayısal temeli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463040"/>
            <a:ext cx="3657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6B5C62"/>
                </a:solidFill>
                <a:latin typeface="DejaVu Sans"/>
              </a:rPr>
              <a:t>22 / 58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6327648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6B5C62"/>
                </a:solidFill>
                <a:latin typeface="DejaVu Sans"/>
              </a:rPr>
              <a:t>Wine House · Aziz Şekerdil ·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424160" y="6327648"/>
            <a:ext cx="9601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>
                <a:solidFill>
                  <a:srgbClr val="6B5C62"/>
                </a:solidFill>
                <a:latin typeface="DejaVu Sans"/>
              </a:rPr>
              <a:t>22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66928"/>
            <a:ext cx="106070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23181C"/>
                </a:solidFill>
                <a:latin typeface="DejaVu Sans"/>
              </a:rPr>
              <a:t>Reçete ve porsiyon maliyeti</a:t>
            </a:r>
          </a:p>
          <a:p>
            <a:pPr algn="l">
              <a:spcAft>
                <a:spcPts val="0"/>
              </a:spcAft>
            </a:pPr>
            <a:r>
              <a:rPr sz="1400" b="0">
                <a:solidFill>
                  <a:srgbClr val="6B5C62"/>
                </a:solidFill>
                <a:latin typeface="DejaVu Sans"/>
              </a:rPr>
              <a:t>Her tabağın gerçek maliyeti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572768"/>
            <a:ext cx="1371600" cy="38100"/>
          </a:xfrm>
          <a:prstGeom prst="rect">
            <a:avLst/>
          </a:prstGeom>
          <a:solidFill>
            <a:srgbClr val="8A63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22960" y="2150303"/>
            <a:ext cx="76200" cy="76200"/>
          </a:xfrm>
          <a:prstGeom prst="rect">
            <a:avLst/>
          </a:prstGeom>
          <a:solidFill>
            <a:srgbClr val="8A63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70432" y="1965960"/>
            <a:ext cx="1024128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>
                <a:solidFill>
                  <a:srgbClr val="23181C"/>
                </a:solidFill>
                <a:latin typeface="DejaVu Sans"/>
              </a:rPr>
              <a:t>Reçete satırları stok kalemlerine bağlanır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2808671"/>
            <a:ext cx="76200" cy="76200"/>
          </a:xfrm>
          <a:prstGeom prst="rect">
            <a:avLst/>
          </a:prstGeom>
          <a:solidFill>
            <a:srgbClr val="8A63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70432" y="2624328"/>
            <a:ext cx="1024128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>
                <a:solidFill>
                  <a:srgbClr val="23181C"/>
                </a:solidFill>
                <a:latin typeface="DejaVu Sans"/>
              </a:rPr>
              <a:t>Porsiyon maliyeti, stokun </a:t>
            </a:r>
            <a:r>
              <a:rPr sz="1600" b="1">
                <a:solidFill>
                  <a:srgbClr val="8A6320"/>
                </a:solidFill>
                <a:latin typeface="DejaVu Sans"/>
              </a:rPr>
              <a:t>ağırlıklı ortalama</a:t>
            </a:r>
            <a:r>
              <a:rPr sz="1600" b="0">
                <a:solidFill>
                  <a:srgbClr val="23181C"/>
                </a:solidFill>
                <a:latin typeface="DejaVu Sans"/>
              </a:rPr>
              <a:t> birim maliyetinden hesaplanır</a:t>
            </a:r>
          </a:p>
        </p:txBody>
      </p:sp>
      <p:sp>
        <p:nvSpPr>
          <p:cNvPr id="8" name="Rectangle 7"/>
          <p:cNvSpPr/>
          <p:nvPr/>
        </p:nvSpPr>
        <p:spPr>
          <a:xfrm>
            <a:off x="822960" y="3467039"/>
            <a:ext cx="76200" cy="76200"/>
          </a:xfrm>
          <a:prstGeom prst="rect">
            <a:avLst/>
          </a:prstGeom>
          <a:solidFill>
            <a:srgbClr val="8A63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70432" y="3282696"/>
            <a:ext cx="1024128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>
                <a:solidFill>
                  <a:srgbClr val="23181C"/>
                </a:solidFill>
                <a:latin typeface="DejaVu Sans"/>
              </a:rPr>
              <a:t>Fire payı yüzdesi maliyete eklenir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" y="4125407"/>
            <a:ext cx="76200" cy="76200"/>
          </a:xfrm>
          <a:prstGeom prst="rect">
            <a:avLst/>
          </a:prstGeom>
          <a:solidFill>
            <a:srgbClr val="8A63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70432" y="3941063"/>
            <a:ext cx="1024128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>
                <a:solidFill>
                  <a:srgbClr val="23181C"/>
                </a:solidFill>
                <a:latin typeface="DejaVu Sans"/>
              </a:rPr>
              <a:t>Brüt kâr, marj yüzdesi ve </a:t>
            </a:r>
            <a:r>
              <a:rPr sz="1600" b="1">
                <a:solidFill>
                  <a:srgbClr val="8A6320"/>
                </a:solidFill>
                <a:latin typeface="DejaVu Sans"/>
              </a:rPr>
              <a:t>maliyet oranı</a:t>
            </a:r>
            <a:r>
              <a:rPr sz="1600" b="0">
                <a:solidFill>
                  <a:srgbClr val="23181C"/>
                </a:solidFill>
                <a:latin typeface="DejaVu Sans"/>
              </a:rPr>
              <a:t> (food cost) otomatik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2960" y="4783775"/>
            <a:ext cx="76200" cy="76200"/>
          </a:xfrm>
          <a:prstGeom prst="rect">
            <a:avLst/>
          </a:prstGeom>
          <a:solidFill>
            <a:srgbClr val="8A63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70432" y="4599431"/>
            <a:ext cx="1024128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>
                <a:solidFill>
                  <a:srgbClr val="23181C"/>
                </a:solidFill>
                <a:latin typeface="DejaVu Sans"/>
              </a:rPr>
              <a:t>Alerjen ve beslenme etiketleri (vejetaryen, vegan, glutensiz) ürüne bağlanır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22960" y="5442143"/>
            <a:ext cx="76200" cy="76200"/>
          </a:xfrm>
          <a:prstGeom prst="rect">
            <a:avLst/>
          </a:prstGeom>
          <a:solidFill>
            <a:srgbClr val="8A63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70432" y="5257799"/>
            <a:ext cx="1024128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>
                <a:solidFill>
                  <a:srgbClr val="23181C"/>
                </a:solidFill>
                <a:latin typeface="DejaVu Sans"/>
              </a:rPr>
              <a:t>Dinamik fiyatlandırma: happy hour, kampanya, gece yarısını aşan zaman aralıkları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6327648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6B5C62"/>
                </a:solidFill>
                <a:latin typeface="DejaVu Sans"/>
              </a:rPr>
              <a:t>Wine House · Aziz Şekerdil · 2026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424160" y="6327648"/>
            <a:ext cx="9601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>
                <a:solidFill>
                  <a:srgbClr val="6B5C62"/>
                </a:solidFill>
                <a:latin typeface="DejaVu Sans"/>
              </a:rPr>
              <a:t>23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66928"/>
            <a:ext cx="106070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23181C"/>
                </a:solidFill>
                <a:latin typeface="DejaVu Sans"/>
              </a:rPr>
              <a:t>Menü mühendisliği</a:t>
            </a:r>
          </a:p>
          <a:p>
            <a:pPr algn="l">
              <a:spcAft>
                <a:spcPts val="0"/>
              </a:spcAft>
            </a:pPr>
            <a:r>
              <a:rPr sz="1400" b="0">
                <a:solidFill>
                  <a:srgbClr val="6B5C62"/>
                </a:solidFill>
                <a:latin typeface="DejaVu Sans"/>
              </a:rPr>
              <a:t>Hangi ürün kalmalı, hangisi değişmeli?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572768"/>
            <a:ext cx="1371600" cy="38100"/>
          </a:xfrm>
          <a:prstGeom prst="rect">
            <a:avLst/>
          </a:prstGeom>
          <a:solidFill>
            <a:srgbClr val="8A63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2011680"/>
            <a:ext cx="2278684" cy="603504"/>
          </a:xfrm>
          <a:prstGeom prst="rect">
            <a:avLst/>
          </a:prstGeom>
          <a:solidFill>
            <a:srgbClr val="4A1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23544" y="2144450"/>
            <a:ext cx="2022652" cy="603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DejaVu Sans"/>
              </a:rPr>
              <a:t>Kadran</a:t>
            </a:r>
          </a:p>
        </p:txBody>
      </p:sp>
      <p:sp>
        <p:nvSpPr>
          <p:cNvPr id="6" name="Rectangle 5"/>
          <p:cNvSpPr/>
          <p:nvPr/>
        </p:nvSpPr>
        <p:spPr>
          <a:xfrm>
            <a:off x="3110788" y="2011680"/>
            <a:ext cx="1854403" cy="603504"/>
          </a:xfrm>
          <a:prstGeom prst="rect">
            <a:avLst/>
          </a:prstGeom>
          <a:solidFill>
            <a:srgbClr val="4A1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57092" y="2144450"/>
            <a:ext cx="1598371" cy="603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DejaVu Sans"/>
              </a:rPr>
              <a:t>Popülerlik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0056" y="2011680"/>
            <a:ext cx="1642262" cy="603504"/>
          </a:xfrm>
          <a:prstGeom prst="rect">
            <a:avLst/>
          </a:prstGeom>
          <a:solidFill>
            <a:srgbClr val="4A1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166360" y="2144450"/>
            <a:ext cx="1386230" cy="603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DejaVu Sans"/>
              </a:rPr>
              <a:t>Kâr</a:t>
            </a:r>
          </a:p>
        </p:txBody>
      </p:sp>
      <p:sp>
        <p:nvSpPr>
          <p:cNvPr id="10" name="Rectangle 9"/>
          <p:cNvSpPr/>
          <p:nvPr/>
        </p:nvSpPr>
        <p:spPr>
          <a:xfrm>
            <a:off x="6717182" y="2011680"/>
            <a:ext cx="4612233" cy="603504"/>
          </a:xfrm>
          <a:prstGeom prst="rect">
            <a:avLst/>
          </a:prstGeom>
          <a:solidFill>
            <a:srgbClr val="4A1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63486" y="2144450"/>
            <a:ext cx="4356201" cy="603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DejaVu Sans"/>
              </a:rPr>
              <a:t>Ne yapmalı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7240" y="2670048"/>
            <a:ext cx="2278684" cy="603504"/>
          </a:xfrm>
          <a:prstGeom prst="rect">
            <a:avLst/>
          </a:prstGeom>
          <a:solidFill>
            <a:srgbClr val="F7F3F4"/>
          </a:solidFill>
          <a:ln w="12700">
            <a:solidFill>
              <a:srgbClr val="D9CC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23544" y="2790748"/>
            <a:ext cx="2022652" cy="603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8A6320"/>
                </a:solidFill>
                <a:latin typeface="DejaVu Sans"/>
              </a:rPr>
              <a:t>Yıldız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110788" y="2670048"/>
            <a:ext cx="1854403" cy="603504"/>
          </a:xfrm>
          <a:prstGeom prst="rect">
            <a:avLst/>
          </a:prstGeom>
          <a:solidFill>
            <a:srgbClr val="F7F3F4"/>
          </a:solidFill>
          <a:ln w="12700">
            <a:solidFill>
              <a:srgbClr val="D9CC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257092" y="2790748"/>
            <a:ext cx="1598371" cy="603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23181C"/>
                </a:solidFill>
                <a:latin typeface="DejaVu Sans"/>
              </a:rPr>
              <a:t>Yüksek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20056" y="2670048"/>
            <a:ext cx="1642262" cy="603504"/>
          </a:xfrm>
          <a:prstGeom prst="rect">
            <a:avLst/>
          </a:prstGeom>
          <a:solidFill>
            <a:srgbClr val="F7F3F4"/>
          </a:solidFill>
          <a:ln w="12700">
            <a:solidFill>
              <a:srgbClr val="D9CC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166360" y="2790748"/>
            <a:ext cx="1386230" cy="603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23181C"/>
                </a:solidFill>
                <a:latin typeface="DejaVu Sans"/>
              </a:rPr>
              <a:t>Yüksek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717182" y="2670048"/>
            <a:ext cx="4612233" cy="603504"/>
          </a:xfrm>
          <a:prstGeom prst="rect">
            <a:avLst/>
          </a:prstGeom>
          <a:solidFill>
            <a:srgbClr val="F7F3F4"/>
          </a:solidFill>
          <a:ln w="12700">
            <a:solidFill>
              <a:srgbClr val="D9CC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63486" y="2790748"/>
            <a:ext cx="4356201" cy="603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23181C"/>
                </a:solidFill>
                <a:latin typeface="DejaVu Sans"/>
              </a:rPr>
              <a:t>Koru, öne çıkar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77240" y="3310128"/>
            <a:ext cx="2278684" cy="603504"/>
          </a:xfrm>
          <a:prstGeom prst="rect">
            <a:avLst/>
          </a:prstGeom>
          <a:solidFill>
            <a:srgbClr val="EFE7EA"/>
          </a:solidFill>
          <a:ln w="12700">
            <a:solidFill>
              <a:srgbClr val="D9CC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23544" y="3430828"/>
            <a:ext cx="2022652" cy="603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8A6320"/>
                </a:solidFill>
                <a:latin typeface="DejaVu Sans"/>
              </a:rPr>
              <a:t>At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110788" y="3310128"/>
            <a:ext cx="1854403" cy="603504"/>
          </a:xfrm>
          <a:prstGeom prst="rect">
            <a:avLst/>
          </a:prstGeom>
          <a:solidFill>
            <a:srgbClr val="EFE7EA"/>
          </a:solidFill>
          <a:ln w="12700">
            <a:solidFill>
              <a:srgbClr val="D9CC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257092" y="3430828"/>
            <a:ext cx="1598371" cy="603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23181C"/>
                </a:solidFill>
                <a:latin typeface="DejaVu Sans"/>
              </a:rPr>
              <a:t>Yüksek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020056" y="3310128"/>
            <a:ext cx="1642262" cy="603504"/>
          </a:xfrm>
          <a:prstGeom prst="rect">
            <a:avLst/>
          </a:prstGeom>
          <a:solidFill>
            <a:srgbClr val="EFE7EA"/>
          </a:solidFill>
          <a:ln w="12700">
            <a:solidFill>
              <a:srgbClr val="D9CC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166360" y="3430828"/>
            <a:ext cx="1386230" cy="603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23181C"/>
                </a:solidFill>
                <a:latin typeface="DejaVu Sans"/>
              </a:rPr>
              <a:t>Düşük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717182" y="3310128"/>
            <a:ext cx="4612233" cy="603504"/>
          </a:xfrm>
          <a:prstGeom prst="rect">
            <a:avLst/>
          </a:prstGeom>
          <a:solidFill>
            <a:srgbClr val="EFE7EA"/>
          </a:solidFill>
          <a:ln w="12700">
            <a:solidFill>
              <a:srgbClr val="D9CC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863486" y="3430828"/>
            <a:ext cx="4356201" cy="603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23181C"/>
                </a:solidFill>
                <a:latin typeface="DejaVu Sans"/>
              </a:rPr>
              <a:t>Maliyeti düşür veya fiyatı gözden geçir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77240" y="3950208"/>
            <a:ext cx="2278684" cy="603504"/>
          </a:xfrm>
          <a:prstGeom prst="rect">
            <a:avLst/>
          </a:prstGeom>
          <a:solidFill>
            <a:srgbClr val="F7F3F4"/>
          </a:solidFill>
          <a:ln w="12700">
            <a:solidFill>
              <a:srgbClr val="D9CC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23544" y="4070908"/>
            <a:ext cx="2022652" cy="603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8A6320"/>
                </a:solidFill>
                <a:latin typeface="DejaVu Sans"/>
              </a:rPr>
              <a:t>Bilmece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110788" y="3950208"/>
            <a:ext cx="1854403" cy="603504"/>
          </a:xfrm>
          <a:prstGeom prst="rect">
            <a:avLst/>
          </a:prstGeom>
          <a:solidFill>
            <a:srgbClr val="F7F3F4"/>
          </a:solidFill>
          <a:ln w="12700">
            <a:solidFill>
              <a:srgbClr val="D9CC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257092" y="4070908"/>
            <a:ext cx="1598371" cy="603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23181C"/>
                </a:solidFill>
                <a:latin typeface="DejaVu Sans"/>
              </a:rPr>
              <a:t>Düşük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020056" y="3950208"/>
            <a:ext cx="1642262" cy="603504"/>
          </a:xfrm>
          <a:prstGeom prst="rect">
            <a:avLst/>
          </a:prstGeom>
          <a:solidFill>
            <a:srgbClr val="F7F3F4"/>
          </a:solidFill>
          <a:ln w="12700">
            <a:solidFill>
              <a:srgbClr val="D9CC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166360" y="4070908"/>
            <a:ext cx="1386230" cy="603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23181C"/>
                </a:solidFill>
                <a:latin typeface="DejaVu Sans"/>
              </a:rPr>
              <a:t>Yüksek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717182" y="3950208"/>
            <a:ext cx="4612233" cy="603504"/>
          </a:xfrm>
          <a:prstGeom prst="rect">
            <a:avLst/>
          </a:prstGeom>
          <a:solidFill>
            <a:srgbClr val="F7F3F4"/>
          </a:solidFill>
          <a:ln w="12700">
            <a:solidFill>
              <a:srgbClr val="D9CC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863486" y="4070908"/>
            <a:ext cx="4356201" cy="603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23181C"/>
                </a:solidFill>
                <a:latin typeface="DejaVu Sans"/>
              </a:rPr>
              <a:t>Tanıt, sommelier önerisine ekle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77240" y="4590288"/>
            <a:ext cx="2278684" cy="603504"/>
          </a:xfrm>
          <a:prstGeom prst="rect">
            <a:avLst/>
          </a:prstGeom>
          <a:solidFill>
            <a:srgbClr val="EFE7EA"/>
          </a:solidFill>
          <a:ln w="12700">
            <a:solidFill>
              <a:srgbClr val="D9CC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23544" y="4710988"/>
            <a:ext cx="2022652" cy="603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8A6320"/>
                </a:solidFill>
                <a:latin typeface="DejaVu Sans"/>
              </a:rPr>
              <a:t>Köpek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110788" y="4590288"/>
            <a:ext cx="1854403" cy="603504"/>
          </a:xfrm>
          <a:prstGeom prst="rect">
            <a:avLst/>
          </a:prstGeom>
          <a:solidFill>
            <a:srgbClr val="EFE7EA"/>
          </a:solidFill>
          <a:ln w="12700">
            <a:solidFill>
              <a:srgbClr val="D9CC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257092" y="4710988"/>
            <a:ext cx="1598371" cy="603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23181C"/>
                </a:solidFill>
                <a:latin typeface="DejaVu Sans"/>
              </a:rPr>
              <a:t>Düşük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020056" y="4590288"/>
            <a:ext cx="1642262" cy="603504"/>
          </a:xfrm>
          <a:prstGeom prst="rect">
            <a:avLst/>
          </a:prstGeom>
          <a:solidFill>
            <a:srgbClr val="EFE7EA"/>
          </a:solidFill>
          <a:ln w="12700">
            <a:solidFill>
              <a:srgbClr val="D9CC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166360" y="4710988"/>
            <a:ext cx="1386230" cy="603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23181C"/>
                </a:solidFill>
                <a:latin typeface="DejaVu Sans"/>
              </a:rPr>
              <a:t>Düşük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717182" y="4590288"/>
            <a:ext cx="4612233" cy="603504"/>
          </a:xfrm>
          <a:prstGeom prst="rect">
            <a:avLst/>
          </a:prstGeom>
          <a:solidFill>
            <a:srgbClr val="EFE7EA"/>
          </a:solidFill>
          <a:ln w="12700">
            <a:solidFill>
              <a:srgbClr val="D9CC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863486" y="4710988"/>
            <a:ext cx="4356201" cy="603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23181C"/>
                </a:solidFill>
                <a:latin typeface="DejaVu Sans"/>
              </a:rPr>
              <a:t>Menüden çıkarmayı değerlendir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77240" y="5367528"/>
            <a:ext cx="10607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6B5C62"/>
                </a:solidFill>
                <a:latin typeface="DejaVu Sans"/>
              </a:rPr>
              <a:t>Kasavana-Smith yöntemi · satış verisinden otomatik hesaplanır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77240" y="6327648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6B5C62"/>
                </a:solidFill>
                <a:latin typeface="DejaVu Sans"/>
              </a:rPr>
              <a:t>Wine House · Aziz Şekerdil · 2026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0424160" y="6327648"/>
            <a:ext cx="9601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>
                <a:solidFill>
                  <a:srgbClr val="6B5C62"/>
                </a:solidFill>
                <a:latin typeface="DejaVu Sans"/>
              </a:rPr>
              <a:t>24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66928"/>
            <a:ext cx="106070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23181C"/>
                </a:solidFill>
                <a:latin typeface="DejaVu Sans"/>
              </a:rPr>
              <a:t>Stok, satın alma ve fire</a:t>
            </a:r>
          </a:p>
          <a:p>
            <a:pPr algn="l">
              <a:spcAft>
                <a:spcPts val="0"/>
              </a:spcAft>
            </a:pPr>
            <a:r>
              <a:rPr sz="1400" b="0">
                <a:solidFill>
                  <a:srgbClr val="6B5C62"/>
                </a:solidFill>
                <a:latin typeface="DejaVu Sans"/>
              </a:rPr>
              <a:t>Girişten çıkışa tam izlenebilirlik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572768"/>
            <a:ext cx="1371600" cy="38100"/>
          </a:xfrm>
          <a:prstGeom prst="rect">
            <a:avLst/>
          </a:prstGeom>
          <a:solidFill>
            <a:srgbClr val="8A63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22960" y="2125065"/>
            <a:ext cx="76200" cy="76200"/>
          </a:xfrm>
          <a:prstGeom prst="rect">
            <a:avLst/>
          </a:prstGeom>
          <a:solidFill>
            <a:srgbClr val="8A63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70432" y="1965960"/>
            <a:ext cx="10241280" cy="56823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0">
                <a:solidFill>
                  <a:srgbClr val="23181C"/>
                </a:solidFill>
                <a:latin typeface="DejaVu Sans"/>
              </a:rPr>
              <a:t>FIFO veya FEFO — kalem bazında seçilir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2693299"/>
            <a:ext cx="76200" cy="76200"/>
          </a:xfrm>
          <a:prstGeom prst="rect">
            <a:avLst/>
          </a:prstGeom>
          <a:solidFill>
            <a:srgbClr val="8A63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70432" y="2534194"/>
            <a:ext cx="10241280" cy="56823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0">
                <a:solidFill>
                  <a:srgbClr val="23181C"/>
                </a:solidFill>
                <a:latin typeface="DejaVu Sans"/>
              </a:rPr>
              <a:t>Son kullanma tarihi yaklaşan partiler için uyarı</a:t>
            </a:r>
          </a:p>
        </p:txBody>
      </p:sp>
      <p:sp>
        <p:nvSpPr>
          <p:cNvPr id="8" name="Rectangle 7"/>
          <p:cNvSpPr/>
          <p:nvPr/>
        </p:nvSpPr>
        <p:spPr>
          <a:xfrm>
            <a:off x="822960" y="3261534"/>
            <a:ext cx="76200" cy="76200"/>
          </a:xfrm>
          <a:prstGeom prst="rect">
            <a:avLst/>
          </a:prstGeom>
          <a:solidFill>
            <a:srgbClr val="8A63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70432" y="3102428"/>
            <a:ext cx="10241280" cy="56823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0">
                <a:solidFill>
                  <a:srgbClr val="23181C"/>
                </a:solidFill>
                <a:latin typeface="DejaVu Sans"/>
              </a:rPr>
              <a:t>Mal kabul: kısmi ret, soğuk zincir kontrolü, otomatik parti oluşturma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" y="3829768"/>
            <a:ext cx="76200" cy="76200"/>
          </a:xfrm>
          <a:prstGeom prst="rect">
            <a:avLst/>
          </a:prstGeom>
          <a:solidFill>
            <a:srgbClr val="8A63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70432" y="3670662"/>
            <a:ext cx="10241280" cy="56823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0">
                <a:solidFill>
                  <a:srgbClr val="23181C"/>
                </a:solidFill>
                <a:latin typeface="DejaVu Sans"/>
              </a:rPr>
              <a:t>Stok sayımı: sistem miktarı ile sayılan karşılaştırılır, fark </a:t>
            </a:r>
            <a:r>
              <a:rPr sz="1450" b="1">
                <a:solidFill>
                  <a:srgbClr val="8A6320"/>
                </a:solidFill>
                <a:latin typeface="DejaVu Sans"/>
              </a:rPr>
              <a:t>hareket olarak</a:t>
            </a:r>
            <a:r>
              <a:rPr sz="1450" b="0">
                <a:solidFill>
                  <a:srgbClr val="23181C"/>
                </a:solidFill>
                <a:latin typeface="DejaVu Sans"/>
              </a:rPr>
              <a:t> işlenir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2960" y="4398002"/>
            <a:ext cx="76200" cy="76200"/>
          </a:xfrm>
          <a:prstGeom prst="rect">
            <a:avLst/>
          </a:prstGeom>
          <a:solidFill>
            <a:srgbClr val="8A63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70432" y="4238897"/>
            <a:ext cx="10241280" cy="56823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0">
                <a:solidFill>
                  <a:srgbClr val="23181C"/>
                </a:solidFill>
                <a:latin typeface="DejaVu Sans"/>
              </a:rPr>
              <a:t>Fire kaydı 11 gerekçeyle: bozulma, SKT, kırılma, dökülme, personel yemeği…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22960" y="4966237"/>
            <a:ext cx="76200" cy="76200"/>
          </a:xfrm>
          <a:prstGeom prst="rect">
            <a:avLst/>
          </a:prstGeom>
          <a:solidFill>
            <a:srgbClr val="8A63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70432" y="4807131"/>
            <a:ext cx="10241280" cy="56823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0">
                <a:solidFill>
                  <a:srgbClr val="23181C"/>
                </a:solidFill>
                <a:latin typeface="DejaVu Sans"/>
              </a:rPr>
              <a:t>Minimum seviye tabanlı sipariş önerisi — </a:t>
            </a:r>
            <a:r>
              <a:rPr sz="1450" b="1">
                <a:solidFill>
                  <a:srgbClr val="8A6320"/>
                </a:solidFill>
                <a:latin typeface="DejaVu Sans"/>
              </a:rPr>
              <a:t>sistem sipariş oluşturmaz, önerir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22960" y="5534471"/>
            <a:ext cx="76200" cy="76200"/>
          </a:xfrm>
          <a:prstGeom prst="rect">
            <a:avLst/>
          </a:prstGeom>
          <a:solidFill>
            <a:srgbClr val="8A63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170432" y="5375365"/>
            <a:ext cx="10241280" cy="56823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0">
                <a:solidFill>
                  <a:srgbClr val="23181C"/>
                </a:solidFill>
                <a:latin typeface="DejaVu Sans"/>
              </a:rPr>
              <a:t>Teklif karşılaştırma: en ucuz ve en hızlı ayrı ayrı işaretlenir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6327648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6B5C62"/>
                </a:solidFill>
                <a:latin typeface="DejaVu Sans"/>
              </a:rPr>
              <a:t>Wine House · Aziz Şekerdil · 2026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424160" y="6327648"/>
            <a:ext cx="9601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>
                <a:solidFill>
                  <a:srgbClr val="6B5C62"/>
                </a:solidFill>
                <a:latin typeface="DejaVu Sans"/>
              </a:rPr>
              <a:t>25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66928"/>
            <a:ext cx="106070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23181C"/>
                </a:solidFill>
                <a:latin typeface="DejaVu Sans"/>
              </a:rPr>
              <a:t>Stok hareketleri değiştirilemez</a:t>
            </a:r>
          </a:p>
          <a:p>
            <a:pPr algn="l">
              <a:spcAft>
                <a:spcPts val="0"/>
              </a:spcAft>
            </a:pPr>
            <a:r>
              <a:rPr sz="1400" b="0">
                <a:solidFill>
                  <a:srgbClr val="6B5C62"/>
                </a:solidFill>
                <a:latin typeface="DejaVu Sans"/>
              </a:rPr>
              <a:t>Bakiye her zaman doğrulanabilir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572768"/>
            <a:ext cx="1371600" cy="38100"/>
          </a:xfrm>
          <a:prstGeom prst="rect">
            <a:avLst/>
          </a:prstGeom>
          <a:solidFill>
            <a:srgbClr val="8A63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22960" y="2150303"/>
            <a:ext cx="76200" cy="76200"/>
          </a:xfrm>
          <a:prstGeom prst="rect">
            <a:avLst/>
          </a:prstGeom>
          <a:solidFill>
            <a:srgbClr val="8A63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70432" y="1965960"/>
            <a:ext cx="1024128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>
                <a:solidFill>
                  <a:srgbClr val="23181C"/>
                </a:solidFill>
                <a:latin typeface="DejaVu Sans"/>
              </a:rPr>
              <a:t>Her giriş ve çıkış ayrı bir hareket kaydı üretir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2808671"/>
            <a:ext cx="76200" cy="76200"/>
          </a:xfrm>
          <a:prstGeom prst="rect">
            <a:avLst/>
          </a:prstGeom>
          <a:solidFill>
            <a:srgbClr val="8A63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70432" y="2624328"/>
            <a:ext cx="1024128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>
                <a:solidFill>
                  <a:srgbClr val="23181C"/>
                </a:solidFill>
                <a:latin typeface="DejaVu Sans"/>
              </a:rPr>
              <a:t>Kayıt oluştuktan sonra </a:t>
            </a:r>
            <a:r>
              <a:rPr sz="1600" b="1">
                <a:solidFill>
                  <a:srgbClr val="8A6320"/>
                </a:solidFill>
                <a:latin typeface="DejaVu Sans"/>
              </a:rPr>
              <a:t>güncellenemez ve silinemez</a:t>
            </a:r>
            <a:r>
              <a:rPr sz="1600" b="0">
                <a:solidFill>
                  <a:srgbClr val="23181C"/>
                </a:solidFill>
                <a:latin typeface="DejaVu Sans"/>
              </a:rPr>
              <a:t> — kod düzeyinde engellenir</a:t>
            </a:r>
          </a:p>
        </p:txBody>
      </p:sp>
      <p:sp>
        <p:nvSpPr>
          <p:cNvPr id="8" name="Rectangle 7"/>
          <p:cNvSpPr/>
          <p:nvPr/>
        </p:nvSpPr>
        <p:spPr>
          <a:xfrm>
            <a:off x="822960" y="3467039"/>
            <a:ext cx="76200" cy="76200"/>
          </a:xfrm>
          <a:prstGeom prst="rect">
            <a:avLst/>
          </a:prstGeom>
          <a:solidFill>
            <a:srgbClr val="8A63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70432" y="3282696"/>
            <a:ext cx="1024128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>
                <a:solidFill>
                  <a:srgbClr val="23181C"/>
                </a:solidFill>
                <a:latin typeface="DejaVu Sans"/>
              </a:rPr>
              <a:t>Hata düzeltmesi ters yönlü yeni bir hareketle yapılır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" y="4125407"/>
            <a:ext cx="76200" cy="76200"/>
          </a:xfrm>
          <a:prstGeom prst="rect">
            <a:avLst/>
          </a:prstGeom>
          <a:solidFill>
            <a:srgbClr val="8A63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70432" y="3941063"/>
            <a:ext cx="1024128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>
                <a:solidFill>
                  <a:srgbClr val="23181C"/>
                </a:solidFill>
                <a:latin typeface="DejaVu Sans"/>
              </a:rPr>
              <a:t>Stok bakiyesi her zaman hareketlerin toplamıyla denetlenebilir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2960" y="4783775"/>
            <a:ext cx="76200" cy="76200"/>
          </a:xfrm>
          <a:prstGeom prst="rect">
            <a:avLst/>
          </a:prstGeom>
          <a:solidFill>
            <a:srgbClr val="8A63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70432" y="4599431"/>
            <a:ext cx="1024128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>
                <a:solidFill>
                  <a:srgbClr val="23181C"/>
                </a:solidFill>
                <a:latin typeface="DejaVu Sans"/>
              </a:rPr>
              <a:t>Aynı değişmezlik sadakat puanı ve denetim kaydı için de geçerlidir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6327648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6B5C62"/>
                </a:solidFill>
                <a:latin typeface="DejaVu Sans"/>
              </a:rPr>
              <a:t>Wine House · Aziz Şekerdil · 2026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424160" y="6327648"/>
            <a:ext cx="9601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>
                <a:solidFill>
                  <a:srgbClr val="6B5C62"/>
                </a:solidFill>
                <a:latin typeface="DejaVu Sans"/>
              </a:rPr>
              <a:t>26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514600"/>
            <a:ext cx="12191969" cy="1828800"/>
          </a:xfrm>
          <a:prstGeom prst="rect">
            <a:avLst/>
          </a:prstGeom>
          <a:solidFill>
            <a:srgbClr val="F7F3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77240" y="2514600"/>
            <a:ext cx="63500" cy="1828800"/>
          </a:xfrm>
          <a:prstGeom prst="rect">
            <a:avLst/>
          </a:prstGeom>
          <a:solidFill>
            <a:srgbClr val="8A63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88720" y="2834640"/>
            <a:ext cx="96012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4000" b="1">
                <a:solidFill>
                  <a:srgbClr val="23181C"/>
                </a:solidFill>
                <a:latin typeface="DejaVu Sans"/>
              </a:rPr>
              <a:t>Müşteri, Personel ve Raporlar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463040"/>
            <a:ext cx="3657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6B5C62"/>
                </a:solidFill>
                <a:latin typeface="DejaVu Sans"/>
              </a:rPr>
              <a:t>27 / 58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6327648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6B5C62"/>
                </a:solidFill>
                <a:latin typeface="DejaVu Sans"/>
              </a:rPr>
              <a:t>Wine House · Aziz Şekerdil ·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24160" y="6327648"/>
            <a:ext cx="9601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>
                <a:solidFill>
                  <a:srgbClr val="6B5C62"/>
                </a:solidFill>
                <a:latin typeface="DejaVu Sans"/>
              </a:rPr>
              <a:t>27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66928"/>
            <a:ext cx="106070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23181C"/>
                </a:solidFill>
                <a:latin typeface="DejaVu Sans"/>
              </a:rPr>
              <a:t>KVKK uyumlu müşteri yönetimi</a:t>
            </a:r>
          </a:p>
          <a:p>
            <a:pPr algn="l">
              <a:spcAft>
                <a:spcPts val="0"/>
              </a:spcAft>
            </a:pPr>
            <a:r>
              <a:rPr sz="1400" b="0">
                <a:solidFill>
                  <a:srgbClr val="6B5C62"/>
                </a:solidFill>
                <a:latin typeface="DejaVu Sans"/>
              </a:rPr>
              <a:t>Veri koruma bir sonradan eklenti değil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572768"/>
            <a:ext cx="1371600" cy="38100"/>
          </a:xfrm>
          <a:prstGeom prst="rect">
            <a:avLst/>
          </a:prstGeom>
          <a:solidFill>
            <a:srgbClr val="8A63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22960" y="2125065"/>
            <a:ext cx="76200" cy="76200"/>
          </a:xfrm>
          <a:prstGeom prst="rect">
            <a:avLst/>
          </a:prstGeom>
          <a:solidFill>
            <a:srgbClr val="8A63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70432" y="1965960"/>
            <a:ext cx="10241280" cy="56823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0">
                <a:solidFill>
                  <a:srgbClr val="23181C"/>
                </a:solidFill>
                <a:latin typeface="DejaVu Sans"/>
              </a:rPr>
              <a:t>Telefon, e-posta ve kimlik bilgileri </a:t>
            </a:r>
            <a:r>
              <a:rPr sz="1450" b="1">
                <a:solidFill>
                  <a:srgbClr val="8A6320"/>
                </a:solidFill>
                <a:latin typeface="DejaVu Sans"/>
              </a:rPr>
              <a:t>şifreli</a:t>
            </a:r>
            <a:r>
              <a:rPr sz="1450" b="0">
                <a:solidFill>
                  <a:srgbClr val="23181C"/>
                </a:solidFill>
                <a:latin typeface="DejaVu Sans"/>
              </a:rPr>
              <a:t> saklanır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2693299"/>
            <a:ext cx="76200" cy="76200"/>
          </a:xfrm>
          <a:prstGeom prst="rect">
            <a:avLst/>
          </a:prstGeom>
          <a:solidFill>
            <a:srgbClr val="8A63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70432" y="2534194"/>
            <a:ext cx="10241280" cy="56823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0">
                <a:solidFill>
                  <a:srgbClr val="23181C"/>
                </a:solidFill>
                <a:latin typeface="DejaVu Sans"/>
              </a:rPr>
              <a:t>Şifreli alanda arama: geri döndürülemez HMAC özeti üzerinden</a:t>
            </a:r>
          </a:p>
        </p:txBody>
      </p:sp>
      <p:sp>
        <p:nvSpPr>
          <p:cNvPr id="8" name="Rectangle 7"/>
          <p:cNvSpPr/>
          <p:nvPr/>
        </p:nvSpPr>
        <p:spPr>
          <a:xfrm>
            <a:off x="822960" y="3261534"/>
            <a:ext cx="76200" cy="76200"/>
          </a:xfrm>
          <a:prstGeom prst="rect">
            <a:avLst/>
          </a:prstGeom>
          <a:solidFill>
            <a:srgbClr val="8A63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70432" y="3102428"/>
            <a:ext cx="10241280" cy="56823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0">
                <a:solidFill>
                  <a:srgbClr val="23181C"/>
                </a:solidFill>
                <a:latin typeface="DejaVu Sans"/>
              </a:rPr>
              <a:t>Her amaç için </a:t>
            </a:r>
            <a:r>
              <a:rPr sz="1450" b="1">
                <a:solidFill>
                  <a:srgbClr val="8A6320"/>
                </a:solidFill>
                <a:latin typeface="DejaVu Sans"/>
              </a:rPr>
              <a:t>ayrı rıza</a:t>
            </a:r>
            <a:r>
              <a:rPr sz="1450" b="0">
                <a:solidFill>
                  <a:srgbClr val="23181C"/>
                </a:solidFill>
                <a:latin typeface="DejaVu Sans"/>
              </a:rPr>
              <a:t>: hizmet, e-posta, SMS, profilleme, yapay zekâ analizi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" y="3829768"/>
            <a:ext cx="76200" cy="76200"/>
          </a:xfrm>
          <a:prstGeom prst="rect">
            <a:avLst/>
          </a:prstGeom>
          <a:solidFill>
            <a:srgbClr val="8A63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70432" y="3670662"/>
            <a:ext cx="10241280" cy="56823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0">
                <a:solidFill>
                  <a:srgbClr val="23181C"/>
                </a:solidFill>
                <a:latin typeface="DejaVu Sans"/>
              </a:rPr>
              <a:t>Rıza geri çekildiğinde kayıt silinmez — ispat için `geri çekilme zamanı` yazılır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2960" y="4398002"/>
            <a:ext cx="76200" cy="76200"/>
          </a:xfrm>
          <a:prstGeom prst="rect">
            <a:avLst/>
          </a:prstGeom>
          <a:solidFill>
            <a:srgbClr val="8A63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70432" y="4238897"/>
            <a:ext cx="10241280" cy="56823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0">
                <a:solidFill>
                  <a:srgbClr val="23181C"/>
                </a:solidFill>
                <a:latin typeface="DejaVu Sans"/>
              </a:rPr>
              <a:t>Veri taşınabilirliği: müşterinin tüm verisi tek tıkla dışa aktarılır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22960" y="4966237"/>
            <a:ext cx="76200" cy="76200"/>
          </a:xfrm>
          <a:prstGeom prst="rect">
            <a:avLst/>
          </a:prstGeom>
          <a:solidFill>
            <a:srgbClr val="8A63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70432" y="4807131"/>
            <a:ext cx="10241280" cy="56823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0">
                <a:solidFill>
                  <a:srgbClr val="23181C"/>
                </a:solidFill>
                <a:latin typeface="DejaVu Sans"/>
              </a:rPr>
              <a:t>Silme hakkı: kişisel veri anonimleştirilir, </a:t>
            </a:r>
            <a:r>
              <a:rPr sz="1450" b="1">
                <a:solidFill>
                  <a:srgbClr val="8A6320"/>
                </a:solidFill>
                <a:latin typeface="DejaVu Sans"/>
              </a:rPr>
              <a:t>mali kayıt yasal süre boyunca korunur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22960" y="5534471"/>
            <a:ext cx="76200" cy="76200"/>
          </a:xfrm>
          <a:prstGeom prst="rect">
            <a:avLst/>
          </a:prstGeom>
          <a:solidFill>
            <a:srgbClr val="8A63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170432" y="5375365"/>
            <a:ext cx="10241280" cy="56823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0">
                <a:solidFill>
                  <a:srgbClr val="23181C"/>
                </a:solidFill>
                <a:latin typeface="DejaVu Sans"/>
              </a:rPr>
              <a:t>Doğum </a:t>
            </a:r>
            <a:r>
              <a:rPr sz="1450" b="1">
                <a:solidFill>
                  <a:srgbClr val="8A6320"/>
                </a:solidFill>
                <a:latin typeface="DejaVu Sans"/>
              </a:rPr>
              <a:t>yılı</a:t>
            </a:r>
            <a:r>
              <a:rPr sz="1450" b="0">
                <a:solidFill>
                  <a:srgbClr val="23181C"/>
                </a:solidFill>
                <a:latin typeface="DejaVu Sans"/>
              </a:rPr>
              <a:t> saklanmaz — yalnızca gün ve ay (veri minimizasyonu)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6327648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6B5C62"/>
                </a:solidFill>
                <a:latin typeface="DejaVu Sans"/>
              </a:rPr>
              <a:t>Wine House · Aziz Şekerdil · 2026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424160" y="6327648"/>
            <a:ext cx="9601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>
                <a:solidFill>
                  <a:srgbClr val="6B5C62"/>
                </a:solidFill>
                <a:latin typeface="DejaVu Sans"/>
              </a:rPr>
              <a:t>28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66928"/>
            <a:ext cx="106070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23181C"/>
                </a:solidFill>
                <a:latin typeface="DejaVu Sans"/>
              </a:rPr>
              <a:t>13 rapor · 3 biçim</a:t>
            </a:r>
          </a:p>
          <a:p>
            <a:pPr algn="l">
              <a:spcAft>
                <a:spcPts val="0"/>
              </a:spcAft>
            </a:pPr>
            <a:r>
              <a:rPr sz="1400" b="0">
                <a:solidFill>
                  <a:srgbClr val="6B5C62"/>
                </a:solidFill>
                <a:latin typeface="DejaVu Sans"/>
              </a:rPr>
              <a:t>Türkçe karakter garantisiyle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572768"/>
            <a:ext cx="1371600" cy="38100"/>
          </a:xfrm>
          <a:prstGeom prst="rect">
            <a:avLst/>
          </a:prstGeom>
          <a:solidFill>
            <a:srgbClr val="8A63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22960" y="2150303"/>
            <a:ext cx="76200" cy="76200"/>
          </a:xfrm>
          <a:prstGeom prst="rect">
            <a:avLst/>
          </a:prstGeom>
          <a:solidFill>
            <a:srgbClr val="8A63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70432" y="1965960"/>
            <a:ext cx="1024128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>
                <a:solidFill>
                  <a:srgbClr val="23181C"/>
                </a:solidFill>
                <a:latin typeface="DejaVu Sans"/>
              </a:rPr>
              <a:t>Satış: günlük özet · ürün ve kategori · ödeme dağılımı · satış tahmini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2808671"/>
            <a:ext cx="76200" cy="76200"/>
          </a:xfrm>
          <a:prstGeom prst="rect">
            <a:avLst/>
          </a:prstGeom>
          <a:solidFill>
            <a:srgbClr val="8A63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70432" y="2624328"/>
            <a:ext cx="1024128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>
                <a:solidFill>
                  <a:srgbClr val="23181C"/>
                </a:solidFill>
                <a:latin typeface="DejaVu Sans"/>
              </a:rPr>
              <a:t>Şarap: kârlılık · kadeh/şişe karşılaştırması · kav değerlemesi</a:t>
            </a:r>
          </a:p>
        </p:txBody>
      </p:sp>
      <p:sp>
        <p:nvSpPr>
          <p:cNvPr id="8" name="Rectangle 7"/>
          <p:cNvSpPr/>
          <p:nvPr/>
        </p:nvSpPr>
        <p:spPr>
          <a:xfrm>
            <a:off x="822960" y="3467039"/>
            <a:ext cx="76200" cy="76200"/>
          </a:xfrm>
          <a:prstGeom prst="rect">
            <a:avLst/>
          </a:prstGeom>
          <a:solidFill>
            <a:srgbClr val="8A63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70432" y="3282696"/>
            <a:ext cx="1024128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>
                <a:solidFill>
                  <a:srgbClr val="23181C"/>
                </a:solidFill>
                <a:latin typeface="DejaVu Sans"/>
              </a:rPr>
              <a:t>Stok: fire analizi · stok değerlemesi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" y="4125407"/>
            <a:ext cx="76200" cy="76200"/>
          </a:xfrm>
          <a:prstGeom prst="rect">
            <a:avLst/>
          </a:prstGeom>
          <a:solidFill>
            <a:srgbClr val="8A63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70432" y="3941063"/>
            <a:ext cx="1024128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>
                <a:solidFill>
                  <a:srgbClr val="23181C"/>
                </a:solidFill>
                <a:latin typeface="DejaVu Sans"/>
              </a:rPr>
              <a:t>Operasyon: masa devir hızı · personel performansı · menü mühendisliği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2960" y="4783775"/>
            <a:ext cx="76200" cy="76200"/>
          </a:xfrm>
          <a:prstGeom prst="rect">
            <a:avLst/>
          </a:prstGeom>
          <a:solidFill>
            <a:srgbClr val="8A63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70432" y="4599431"/>
            <a:ext cx="1024128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>
                <a:solidFill>
                  <a:srgbClr val="23181C"/>
                </a:solidFill>
                <a:latin typeface="DejaVu Sans"/>
              </a:rPr>
              <a:t>Yapay zekâ: maliyet ve belirteç kullanımı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22960" y="5442143"/>
            <a:ext cx="76200" cy="76200"/>
          </a:xfrm>
          <a:prstGeom prst="rect">
            <a:avLst/>
          </a:prstGeom>
          <a:solidFill>
            <a:srgbClr val="8A63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70432" y="5257799"/>
            <a:ext cx="1024128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8A6320"/>
                </a:solidFill>
                <a:latin typeface="DejaVu Sans"/>
              </a:rPr>
              <a:t>PDF · Excel · CSV</a:t>
            </a:r>
            <a:r>
              <a:rPr sz="1600" b="0">
                <a:solidFill>
                  <a:srgbClr val="23181C"/>
                </a:solidFill>
                <a:latin typeface="DejaVu Sans"/>
              </a:rPr>
              <a:t> — üçünde de ç ğ ı İ ö ş ü doğru görünür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6327648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6B5C62"/>
                </a:solidFill>
                <a:latin typeface="DejaVu Sans"/>
              </a:rPr>
              <a:t>Wine House · Aziz Şekerdil · 2026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424160" y="6327648"/>
            <a:ext cx="9601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>
                <a:solidFill>
                  <a:srgbClr val="6B5C62"/>
                </a:solidFill>
                <a:latin typeface="DejaVu Sans"/>
              </a:rPr>
              <a:t>29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66928"/>
            <a:ext cx="106070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23181C"/>
                </a:solidFill>
                <a:latin typeface="DejaVu Sans"/>
              </a:rPr>
              <a:t>Türkçe karakter nasıl garanti ediliyor?</a:t>
            </a:r>
          </a:p>
          <a:p>
            <a:pPr algn="l">
              <a:spcAft>
                <a:spcPts val="0"/>
              </a:spcAft>
            </a:pPr>
            <a:r>
              <a:rPr sz="1400" b="0">
                <a:solidFill>
                  <a:srgbClr val="6B5C62"/>
                </a:solidFill>
                <a:latin typeface="DejaVu Sans"/>
              </a:rPr>
              <a:t>Çoğu sistemin sessizce bozduğu yer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572768"/>
            <a:ext cx="1371600" cy="38100"/>
          </a:xfrm>
          <a:prstGeom prst="rect">
            <a:avLst/>
          </a:prstGeom>
          <a:solidFill>
            <a:srgbClr val="8A63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2011680"/>
            <a:ext cx="2702966" cy="603504"/>
          </a:xfrm>
          <a:prstGeom prst="rect">
            <a:avLst/>
          </a:prstGeom>
          <a:solidFill>
            <a:srgbClr val="4A1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23544" y="2144450"/>
            <a:ext cx="2446934" cy="603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DejaVu Sans"/>
              </a:rPr>
              <a:t>Biçim</a:t>
            </a:r>
          </a:p>
        </p:txBody>
      </p:sp>
      <p:sp>
        <p:nvSpPr>
          <p:cNvPr id="6" name="Rectangle 5"/>
          <p:cNvSpPr/>
          <p:nvPr/>
        </p:nvSpPr>
        <p:spPr>
          <a:xfrm>
            <a:off x="3535070" y="2011680"/>
            <a:ext cx="2490825" cy="603504"/>
          </a:xfrm>
          <a:prstGeom prst="rect">
            <a:avLst/>
          </a:prstGeom>
          <a:solidFill>
            <a:srgbClr val="4A1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81374" y="2144450"/>
            <a:ext cx="2234793" cy="603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DejaVu Sans"/>
              </a:rPr>
              <a:t>Sorun</a:t>
            </a:r>
          </a:p>
        </p:txBody>
      </p:sp>
      <p:sp>
        <p:nvSpPr>
          <p:cNvPr id="8" name="Rectangle 7"/>
          <p:cNvSpPr/>
          <p:nvPr/>
        </p:nvSpPr>
        <p:spPr>
          <a:xfrm>
            <a:off x="6080760" y="2011680"/>
            <a:ext cx="5248656" cy="603504"/>
          </a:xfrm>
          <a:prstGeom prst="rect">
            <a:avLst/>
          </a:prstGeom>
          <a:solidFill>
            <a:srgbClr val="4A1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227064" y="2144450"/>
            <a:ext cx="4992624" cy="603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DejaVu Sans"/>
              </a:rPr>
              <a:t>Wine House çözümü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2670048"/>
            <a:ext cx="2702966" cy="603504"/>
          </a:xfrm>
          <a:prstGeom prst="rect">
            <a:avLst/>
          </a:prstGeom>
          <a:solidFill>
            <a:srgbClr val="F7F3F4"/>
          </a:solidFill>
          <a:ln w="12700">
            <a:solidFill>
              <a:srgbClr val="D9CC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23544" y="2790748"/>
            <a:ext cx="2446934" cy="603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8A6320"/>
                </a:solidFill>
                <a:latin typeface="DejaVu Sans"/>
              </a:rPr>
              <a:t>CSV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535070" y="2670048"/>
            <a:ext cx="2490825" cy="603504"/>
          </a:xfrm>
          <a:prstGeom prst="rect">
            <a:avLst/>
          </a:prstGeom>
          <a:solidFill>
            <a:srgbClr val="F7F3F4"/>
          </a:solidFill>
          <a:ln w="12700">
            <a:solidFill>
              <a:srgbClr val="D9CC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81374" y="2790748"/>
            <a:ext cx="2234793" cy="603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23181C"/>
                </a:solidFill>
                <a:latin typeface="DejaVu Sans"/>
              </a:rPr>
              <a:t>Excel dosyayı yanlış kodlamayla açar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080760" y="2670048"/>
            <a:ext cx="5248656" cy="603504"/>
          </a:xfrm>
          <a:prstGeom prst="rect">
            <a:avLst/>
          </a:prstGeom>
          <a:solidFill>
            <a:srgbClr val="F7F3F4"/>
          </a:solidFill>
          <a:ln w="12700">
            <a:solidFill>
              <a:srgbClr val="D9CC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27064" y="2790748"/>
            <a:ext cx="4992624" cy="603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23181C"/>
                </a:solidFill>
                <a:latin typeface="DejaVu Sans"/>
              </a:rPr>
              <a:t>UTF-8 BOM ile yazılır; çift tıklamada bozulmaz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77240" y="3310128"/>
            <a:ext cx="2702966" cy="603504"/>
          </a:xfrm>
          <a:prstGeom prst="rect">
            <a:avLst/>
          </a:prstGeom>
          <a:solidFill>
            <a:srgbClr val="EFE7EA"/>
          </a:solidFill>
          <a:ln w="12700">
            <a:solidFill>
              <a:srgbClr val="D9CC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23544" y="3430828"/>
            <a:ext cx="2446934" cy="603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8A6320"/>
                </a:solidFill>
                <a:latin typeface="DejaVu Sans"/>
              </a:rPr>
              <a:t>Excel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535070" y="3310128"/>
            <a:ext cx="2490825" cy="603504"/>
          </a:xfrm>
          <a:prstGeom prst="rect">
            <a:avLst/>
          </a:prstGeom>
          <a:solidFill>
            <a:srgbClr val="EFE7EA"/>
          </a:solidFill>
          <a:ln w="12700">
            <a:solidFill>
              <a:srgbClr val="D9CC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681374" y="3430828"/>
            <a:ext cx="2234793" cy="603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23181C"/>
                </a:solidFill>
                <a:latin typeface="DejaVu Sans"/>
              </a:rPr>
              <a:t>Sayılar metin olarak yazılır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080760" y="3310128"/>
            <a:ext cx="5248656" cy="603504"/>
          </a:xfrm>
          <a:prstGeom prst="rect">
            <a:avLst/>
          </a:prstGeom>
          <a:solidFill>
            <a:srgbClr val="EFE7EA"/>
          </a:solidFill>
          <a:ln w="12700">
            <a:solidFill>
              <a:srgbClr val="D9CC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227064" y="3430828"/>
            <a:ext cx="4992624" cy="603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23181C"/>
                </a:solidFill>
                <a:latin typeface="DejaVu Sans"/>
              </a:rPr>
              <a:t>Sayılar sayı tipinde; TR sayı ve tarih biçimi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77240" y="3950208"/>
            <a:ext cx="2702966" cy="603504"/>
          </a:xfrm>
          <a:prstGeom prst="rect">
            <a:avLst/>
          </a:prstGeom>
          <a:solidFill>
            <a:srgbClr val="F7F3F4"/>
          </a:solidFill>
          <a:ln w="12700">
            <a:solidFill>
              <a:srgbClr val="D9CC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23544" y="4070908"/>
            <a:ext cx="2446934" cy="603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8A6320"/>
                </a:solidFill>
                <a:latin typeface="DejaVu Sans"/>
              </a:rPr>
              <a:t>PDF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535070" y="3950208"/>
            <a:ext cx="2490825" cy="603504"/>
          </a:xfrm>
          <a:prstGeom prst="rect">
            <a:avLst/>
          </a:prstGeom>
          <a:solidFill>
            <a:srgbClr val="F7F3F4"/>
          </a:solidFill>
          <a:ln w="12700">
            <a:solidFill>
              <a:srgbClr val="D9CC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681374" y="4070908"/>
            <a:ext cx="2234793" cy="603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23181C"/>
                </a:solidFill>
                <a:latin typeface="DejaVu Sans"/>
              </a:rPr>
              <a:t>Gömülü yazı tipi Türkçe'yi kapsamaz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080760" y="3950208"/>
            <a:ext cx="5248656" cy="603504"/>
          </a:xfrm>
          <a:prstGeom prst="rect">
            <a:avLst/>
          </a:prstGeom>
          <a:solidFill>
            <a:srgbClr val="F7F3F4"/>
          </a:solidFill>
          <a:ln w="12700">
            <a:solidFill>
              <a:srgbClr val="D9CC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227064" y="4070908"/>
            <a:ext cx="4992624" cy="603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23181C"/>
                </a:solidFill>
                <a:latin typeface="DejaVu Sans"/>
              </a:rPr>
              <a:t>Sistemdeki TrueType bulunur ve </a:t>
            </a:r>
            <a:r>
              <a:rPr sz="1150" b="1">
                <a:solidFill>
                  <a:srgbClr val="8A6320"/>
                </a:solidFill>
                <a:latin typeface="DejaVu Sans"/>
              </a:rPr>
              <a:t>gömülür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77240" y="4590288"/>
            <a:ext cx="2702966" cy="603504"/>
          </a:xfrm>
          <a:prstGeom prst="rect">
            <a:avLst/>
          </a:prstGeom>
          <a:solidFill>
            <a:srgbClr val="EFE7EA"/>
          </a:solidFill>
          <a:ln w="12700">
            <a:solidFill>
              <a:srgbClr val="D9CC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23544" y="4710988"/>
            <a:ext cx="2446934" cy="603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8A6320"/>
                </a:solidFill>
                <a:latin typeface="DejaVu Sans"/>
              </a:rPr>
              <a:t>PDF (yazı tipi yok)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535070" y="4590288"/>
            <a:ext cx="2490825" cy="603504"/>
          </a:xfrm>
          <a:prstGeom prst="rect">
            <a:avLst/>
          </a:prstGeom>
          <a:solidFill>
            <a:srgbClr val="EFE7EA"/>
          </a:solidFill>
          <a:ln w="12700">
            <a:solidFill>
              <a:srgbClr val="D9CC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681374" y="4710988"/>
            <a:ext cx="2234793" cy="603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23181C"/>
                </a:solidFill>
                <a:latin typeface="DejaVu Sans"/>
              </a:rPr>
              <a:t>Sessizce bozuk çıktı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080760" y="4590288"/>
            <a:ext cx="5248656" cy="603504"/>
          </a:xfrm>
          <a:prstGeom prst="rect">
            <a:avLst/>
          </a:prstGeom>
          <a:solidFill>
            <a:srgbClr val="EFE7EA"/>
          </a:solidFill>
          <a:ln w="12700">
            <a:solidFill>
              <a:srgbClr val="D9CC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227064" y="4710988"/>
            <a:ext cx="4992624" cy="603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23181C"/>
                </a:solidFill>
                <a:latin typeface="DejaVu Sans"/>
              </a:rPr>
              <a:t>Açık hata verilir — bozuk PDF üretilmez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77240" y="6327648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6B5C62"/>
                </a:solidFill>
                <a:latin typeface="DejaVu Sans"/>
              </a:rPr>
              <a:t>Wine House · Aziz Şekerdil · 2026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424160" y="6327648"/>
            <a:ext cx="9601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>
                <a:solidFill>
                  <a:srgbClr val="6B5C62"/>
                </a:solidFill>
                <a:latin typeface="DejaVu Sans"/>
              </a:rPr>
              <a:t>30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514600"/>
            <a:ext cx="12191969" cy="1828800"/>
          </a:xfrm>
          <a:prstGeom prst="rect">
            <a:avLst/>
          </a:prstGeom>
          <a:solidFill>
            <a:srgbClr val="F7F3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77240" y="2514600"/>
            <a:ext cx="63500" cy="1828800"/>
          </a:xfrm>
          <a:prstGeom prst="rect">
            <a:avLst/>
          </a:prstGeom>
          <a:solidFill>
            <a:srgbClr val="8A63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88720" y="2834640"/>
            <a:ext cx="96012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4000" b="1">
                <a:solidFill>
                  <a:srgbClr val="23181C"/>
                </a:solidFill>
                <a:latin typeface="DejaVu Sans"/>
              </a:rPr>
              <a:t>Yapay Zekâ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8720" y="3611880"/>
            <a:ext cx="96012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>
                <a:solidFill>
                  <a:srgbClr val="8A6320"/>
                </a:solidFill>
                <a:latin typeface="DejaVu Sans"/>
              </a:rPr>
              <a:t>Yardımcı, yetkili değil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463040"/>
            <a:ext cx="3657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6B5C62"/>
                </a:solidFill>
                <a:latin typeface="DejaVu Sans"/>
              </a:rPr>
              <a:t>31 / 58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6327648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6B5C62"/>
                </a:solidFill>
                <a:latin typeface="DejaVu Sans"/>
              </a:rPr>
              <a:t>Wine House · Aziz Şekerdil ·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424160" y="6327648"/>
            <a:ext cx="9601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>
                <a:solidFill>
                  <a:srgbClr val="6B5C62"/>
                </a:solidFill>
                <a:latin typeface="DejaVu Sans"/>
              </a:rPr>
              <a:t>31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66928"/>
            <a:ext cx="106070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23181C"/>
                </a:solidFill>
                <a:latin typeface="DejaVu Sans"/>
              </a:rPr>
              <a:t>Sağlayıcıdan bağımsız mimari</a:t>
            </a:r>
          </a:p>
          <a:p>
            <a:pPr algn="l">
              <a:spcAft>
                <a:spcPts val="0"/>
              </a:spcAft>
            </a:pPr>
            <a:r>
              <a:rPr sz="1400" b="0">
                <a:solidFill>
                  <a:srgbClr val="6B5C62"/>
                </a:solidFill>
                <a:latin typeface="DejaVu Sans"/>
              </a:rPr>
              <a:t>Tek bir şirkete bağlı kalmadan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572768"/>
            <a:ext cx="1371600" cy="38100"/>
          </a:xfrm>
          <a:prstGeom prst="rect">
            <a:avLst/>
          </a:prstGeom>
          <a:solidFill>
            <a:srgbClr val="8A63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22960" y="2150303"/>
            <a:ext cx="76200" cy="76200"/>
          </a:xfrm>
          <a:prstGeom prst="rect">
            <a:avLst/>
          </a:prstGeom>
          <a:solidFill>
            <a:srgbClr val="8A63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70432" y="1965960"/>
            <a:ext cx="1024128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8A6320"/>
                </a:solidFill>
                <a:latin typeface="DejaVu Sans"/>
              </a:rPr>
              <a:t>LM Studio</a:t>
            </a:r>
            <a:r>
              <a:rPr sz="1600" b="0">
                <a:solidFill>
                  <a:srgbClr val="23181C"/>
                </a:solidFill>
                <a:latin typeface="DejaVu Sans"/>
              </a:rPr>
              <a:t> (yerel) · </a:t>
            </a:r>
            <a:r>
              <a:rPr sz="1600" b="1">
                <a:solidFill>
                  <a:srgbClr val="8A6320"/>
                </a:solidFill>
                <a:latin typeface="DejaVu Sans"/>
              </a:rPr>
              <a:t>Anthropic Claude</a:t>
            </a:r>
            <a:r>
              <a:rPr sz="1600" b="0">
                <a:solidFill>
                  <a:srgbClr val="23181C"/>
                </a:solidFill>
                <a:latin typeface="DejaVu Sans"/>
              </a:rPr>
              <a:t> · </a:t>
            </a:r>
            <a:r>
              <a:rPr sz="1600" b="1">
                <a:solidFill>
                  <a:srgbClr val="8A6320"/>
                </a:solidFill>
                <a:latin typeface="DejaVu Sans"/>
              </a:rPr>
              <a:t>NVIDIA</a:t>
            </a:r>
            <a:r>
              <a:rPr sz="1600" b="0">
                <a:solidFill>
                  <a:srgbClr val="23181C"/>
                </a:solidFill>
                <a:latin typeface="DejaVu Sans"/>
              </a:rPr>
              <a:t> · </a:t>
            </a:r>
            <a:r>
              <a:rPr sz="1600" b="1">
                <a:solidFill>
                  <a:srgbClr val="8A6320"/>
                </a:solidFill>
                <a:latin typeface="DejaVu Sans"/>
              </a:rPr>
              <a:t>Mock</a:t>
            </a:r>
            <a:r>
              <a:rPr sz="1600" b="0">
                <a:solidFill>
                  <a:srgbClr val="23181C"/>
                </a:solidFill>
                <a:latin typeface="DejaVu Sans"/>
              </a:rPr>
              <a:t> (çevrimdışı test)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2808671"/>
            <a:ext cx="76200" cy="76200"/>
          </a:xfrm>
          <a:prstGeom prst="rect">
            <a:avLst/>
          </a:prstGeom>
          <a:solidFill>
            <a:srgbClr val="8A63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70432" y="2624328"/>
            <a:ext cx="1024128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>
                <a:solidFill>
                  <a:srgbClr val="23181C"/>
                </a:solidFill>
                <a:latin typeface="DejaVu Sans"/>
              </a:rPr>
              <a:t>Model adları koda gömülmez — her zaman sağlayıcıdan </a:t>
            </a:r>
            <a:r>
              <a:rPr sz="1600" b="1">
                <a:solidFill>
                  <a:srgbClr val="8A6320"/>
                </a:solidFill>
                <a:latin typeface="DejaVu Sans"/>
              </a:rPr>
              <a:t>canlı okunur</a:t>
            </a:r>
          </a:p>
        </p:txBody>
      </p:sp>
      <p:sp>
        <p:nvSpPr>
          <p:cNvPr id="8" name="Rectangle 7"/>
          <p:cNvSpPr/>
          <p:nvPr/>
        </p:nvSpPr>
        <p:spPr>
          <a:xfrm>
            <a:off x="822960" y="3467039"/>
            <a:ext cx="76200" cy="76200"/>
          </a:xfrm>
          <a:prstGeom prst="rect">
            <a:avLst/>
          </a:prstGeom>
          <a:solidFill>
            <a:srgbClr val="8A63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70432" y="3282696"/>
            <a:ext cx="1024128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>
                <a:solidFill>
                  <a:srgbClr val="23181C"/>
                </a:solidFill>
                <a:latin typeface="DejaVu Sans"/>
              </a:rPr>
              <a:t>Göreve göre model seçimi: sohbet, kodlama, görsel, analitik, gömme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" y="4125407"/>
            <a:ext cx="76200" cy="76200"/>
          </a:xfrm>
          <a:prstGeom prst="rect">
            <a:avLst/>
          </a:prstGeom>
          <a:solidFill>
            <a:srgbClr val="8A63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70432" y="3941063"/>
            <a:ext cx="1024128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>
                <a:solidFill>
                  <a:srgbClr val="23181C"/>
                </a:solidFill>
                <a:latin typeface="DejaVu Sans"/>
              </a:rPr>
              <a:t>Zaman aşımı, yeniden deneme, üstel geri çekilme, istek iptali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2960" y="4783775"/>
            <a:ext cx="76200" cy="76200"/>
          </a:xfrm>
          <a:prstGeom prst="rect">
            <a:avLst/>
          </a:prstGeom>
          <a:solidFill>
            <a:srgbClr val="8A63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70432" y="4599431"/>
            <a:ext cx="1024128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>
                <a:solidFill>
                  <a:srgbClr val="23181C"/>
                </a:solidFill>
                <a:latin typeface="DejaVu Sans"/>
              </a:rPr>
              <a:t>Yedekleme zinciri: bir sağlayıcı çökerse sıradaki denenir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22960" y="5442143"/>
            <a:ext cx="76200" cy="76200"/>
          </a:xfrm>
          <a:prstGeom prst="rect">
            <a:avLst/>
          </a:prstGeom>
          <a:solidFill>
            <a:srgbClr val="8A63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70432" y="5257799"/>
            <a:ext cx="1024128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>
                <a:solidFill>
                  <a:srgbClr val="23181C"/>
                </a:solidFill>
                <a:latin typeface="DejaVu Sans"/>
              </a:rPr>
              <a:t>Zincirin sonunda </a:t>
            </a:r>
            <a:r>
              <a:rPr sz="1600" b="1">
                <a:solidFill>
                  <a:srgbClr val="8A6320"/>
                </a:solidFill>
                <a:latin typeface="DejaVu Sans"/>
              </a:rPr>
              <a:t>daima Mock</a:t>
            </a:r>
            <a:r>
              <a:rPr sz="1600" b="0">
                <a:solidFill>
                  <a:srgbClr val="23181C"/>
                </a:solidFill>
                <a:latin typeface="DejaVu Sans"/>
              </a:rPr>
              <a:t> bulunur — yapay zekâ akışı hiç çökmez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6327648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6B5C62"/>
                </a:solidFill>
                <a:latin typeface="DejaVu Sans"/>
              </a:rPr>
              <a:t>Wine House · Aziz Şekerdil · 2026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424160" y="6327648"/>
            <a:ext cx="9601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>
                <a:solidFill>
                  <a:srgbClr val="6B5C62"/>
                </a:solidFill>
                <a:latin typeface="DejaVu Sans"/>
              </a:rPr>
              <a:t>32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66928"/>
            <a:ext cx="106070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23181C"/>
                </a:solidFill>
                <a:latin typeface="DejaVu Sans"/>
              </a:rPr>
              <a:t>Gizlilik: buluta ne gidiyor?</a:t>
            </a:r>
          </a:p>
          <a:p>
            <a:pPr algn="l">
              <a:spcAft>
                <a:spcPts val="0"/>
              </a:spcAft>
            </a:pPr>
            <a:r>
              <a:rPr sz="1400" b="0">
                <a:solidFill>
                  <a:srgbClr val="6B5C62"/>
                </a:solidFill>
                <a:latin typeface="DejaVu Sans"/>
              </a:rPr>
              <a:t>Kullanıcı her zaman görür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572768"/>
            <a:ext cx="1371600" cy="38100"/>
          </a:xfrm>
          <a:prstGeom prst="rect">
            <a:avLst/>
          </a:prstGeom>
          <a:solidFill>
            <a:srgbClr val="8A63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77240" y="1965960"/>
            <a:ext cx="4919472" cy="3657600"/>
          </a:xfrm>
          <a:prstGeom prst="roundRect">
            <a:avLst>
              <a:gd name="adj" fmla="val 6000"/>
            </a:avLst>
          </a:prstGeom>
          <a:solidFill>
            <a:srgbClr val="F7F3F4"/>
          </a:solidFill>
          <a:ln w="12700">
            <a:solidFill>
              <a:srgbClr val="D9CC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77240" y="1965960"/>
            <a:ext cx="4919472" cy="50800"/>
          </a:xfrm>
          <a:prstGeom prst="rect">
            <a:avLst/>
          </a:prstGeom>
          <a:solidFill>
            <a:srgbClr val="4A1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" y="2212848"/>
            <a:ext cx="43891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4A1C2E"/>
                </a:solidFill>
                <a:latin typeface="DejaVu Sans"/>
              </a:rPr>
              <a:t>Varsayılan davranış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2761488"/>
            <a:ext cx="443484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23181C"/>
                </a:solidFill>
                <a:latin typeface="DejaVu Sans"/>
              </a:rPr>
              <a:t>·  Varsayılan sağlayıcı </a:t>
            </a:r>
            <a:r>
              <a:rPr sz="1250" b="1">
                <a:solidFill>
                  <a:srgbClr val="8A6320"/>
                </a:solidFill>
                <a:latin typeface="DejaVu Sans"/>
              </a:rPr>
              <a:t>yerel</a:t>
            </a:r>
            <a:r>
              <a:rPr sz="1250" b="0">
                <a:solidFill>
                  <a:srgbClr val="23181C"/>
                </a:solidFill>
                <a:latin typeface="DejaVu Sans"/>
              </a:rPr>
              <a:t> LM Studio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3328416"/>
            <a:ext cx="443484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23181C"/>
                </a:solidFill>
                <a:latin typeface="DejaVu Sans"/>
              </a:rPr>
              <a:t>·  Müşteri verisi işletme dışına çıkmaz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3895344"/>
            <a:ext cx="443484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23181C"/>
                </a:solidFill>
                <a:latin typeface="DejaVu Sans"/>
              </a:rPr>
              <a:t>·  `Yalnızca yerel` modu bulutu tamamen kapatır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" y="4462272"/>
            <a:ext cx="443484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23181C"/>
                </a:solidFill>
                <a:latin typeface="DejaVu Sans"/>
              </a:rPr>
              <a:t>·  Aylık maliyet sınırı aşılırsa bulut engellenir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92240" y="1965960"/>
            <a:ext cx="4919472" cy="3657600"/>
          </a:xfrm>
          <a:prstGeom prst="roundRect">
            <a:avLst>
              <a:gd name="adj" fmla="val 6000"/>
            </a:avLst>
          </a:prstGeom>
          <a:solidFill>
            <a:srgbClr val="F7F3F4"/>
          </a:solidFill>
          <a:ln w="12700">
            <a:solidFill>
              <a:srgbClr val="D9CC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492240" y="1965960"/>
            <a:ext cx="4919472" cy="50800"/>
          </a:xfrm>
          <a:prstGeom prst="rect">
            <a:avLst/>
          </a:prstGeom>
          <a:solidFill>
            <a:srgbClr val="8A63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766559" y="2212848"/>
            <a:ext cx="43891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8A6320"/>
                </a:solidFill>
                <a:latin typeface="DejaVu Sans"/>
              </a:rPr>
              <a:t>Buluta gitmesi gerekirse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766559" y="2761488"/>
            <a:ext cx="443484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23181C"/>
                </a:solidFill>
                <a:latin typeface="DejaVu Sans"/>
              </a:rPr>
              <a:t>·  E-posta, telefon, TCKN, IBAN, kart no </a:t>
            </a:r>
            <a:r>
              <a:rPr sz="1250" b="1">
                <a:solidFill>
                  <a:srgbClr val="8A6320"/>
                </a:solidFill>
                <a:latin typeface="DejaVu Sans"/>
              </a:rPr>
              <a:t>maskelenir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66559" y="3328416"/>
            <a:ext cx="443484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23181C"/>
                </a:solidFill>
                <a:latin typeface="DejaVu Sans"/>
              </a:rPr>
              <a:t>·  API anahtarları hiçbir koşulda gönderilmez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66559" y="3895344"/>
            <a:ext cx="443484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23181C"/>
                </a:solidFill>
                <a:latin typeface="DejaVu Sans"/>
              </a:rPr>
              <a:t>·  Kullanıcı </a:t>
            </a:r>
            <a:r>
              <a:rPr sz="1250" b="1">
                <a:solidFill>
                  <a:srgbClr val="8A6320"/>
                </a:solidFill>
                <a:latin typeface="DejaVu Sans"/>
              </a:rPr>
              <a:t>fiilen gönderilen metni</a:t>
            </a:r>
            <a:r>
              <a:rPr sz="1250" b="0">
                <a:solidFill>
                  <a:srgbClr val="23181C"/>
                </a:solidFill>
                <a:latin typeface="DejaVu Sans"/>
              </a:rPr>
              <a:t> ekranda görür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66559" y="4462272"/>
            <a:ext cx="443484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23181C"/>
                </a:solidFill>
                <a:latin typeface="DejaVu Sans"/>
              </a:rPr>
              <a:t>·  Hangi türden kaç veri maskelendiği raporlanır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6327648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6B5C62"/>
                </a:solidFill>
                <a:latin typeface="DejaVu Sans"/>
              </a:rPr>
              <a:t>Wine House · Aziz Şekerdil · 2026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424160" y="6327648"/>
            <a:ext cx="9601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>
                <a:solidFill>
                  <a:srgbClr val="6B5C62"/>
                </a:solidFill>
                <a:latin typeface="DejaVu Sans"/>
              </a:rPr>
              <a:t>33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66928"/>
            <a:ext cx="106070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23181C"/>
                </a:solidFill>
                <a:latin typeface="DejaVu Sans"/>
              </a:rPr>
              <a:t>Yapay zekâ veritabanına yazamaz</a:t>
            </a:r>
          </a:p>
          <a:p>
            <a:pPr algn="l">
              <a:spcAft>
                <a:spcPts val="0"/>
              </a:spcAft>
            </a:pPr>
            <a:r>
              <a:rPr sz="1400" b="0">
                <a:solidFill>
                  <a:srgbClr val="6B5C62"/>
                </a:solidFill>
                <a:latin typeface="DejaVu Sans"/>
              </a:rPr>
              <a:t>Kesin sınır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572768"/>
            <a:ext cx="1371600" cy="38100"/>
          </a:xfrm>
          <a:prstGeom prst="rect">
            <a:avLst/>
          </a:prstGeom>
          <a:solidFill>
            <a:srgbClr val="8A63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22960" y="2150303"/>
            <a:ext cx="76200" cy="76200"/>
          </a:xfrm>
          <a:prstGeom prst="rect">
            <a:avLst/>
          </a:prstGeom>
          <a:solidFill>
            <a:srgbClr val="8A63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70432" y="1965960"/>
            <a:ext cx="1024128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>
                <a:solidFill>
                  <a:srgbClr val="23181C"/>
                </a:solidFill>
                <a:latin typeface="DejaVu Sans"/>
              </a:rPr>
              <a:t>Her öneri </a:t>
            </a:r>
            <a:r>
              <a:rPr sz="1600" b="1">
                <a:solidFill>
                  <a:srgbClr val="8A6320"/>
                </a:solidFill>
                <a:latin typeface="DejaVu Sans"/>
              </a:rPr>
              <a:t>kayıt olarak</a:t>
            </a:r>
            <a:r>
              <a:rPr sz="1600" b="0">
                <a:solidFill>
                  <a:srgbClr val="23181C"/>
                </a:solidFill>
                <a:latin typeface="DejaVu Sans"/>
              </a:rPr>
              <a:t> saklanır ve insan onayı bekler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2808671"/>
            <a:ext cx="76200" cy="76200"/>
          </a:xfrm>
          <a:prstGeom prst="rect">
            <a:avLst/>
          </a:prstGeom>
          <a:solidFill>
            <a:srgbClr val="8A63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70432" y="2624328"/>
            <a:ext cx="1024128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>
                <a:solidFill>
                  <a:srgbClr val="23181C"/>
                </a:solidFill>
                <a:latin typeface="DejaVu Sans"/>
              </a:rPr>
              <a:t>Onaylanmadan hiçbir fiyat, stok, menü veya eşleştirme değişmez</a:t>
            </a:r>
          </a:p>
        </p:txBody>
      </p:sp>
      <p:sp>
        <p:nvSpPr>
          <p:cNvPr id="8" name="Rectangle 7"/>
          <p:cNvSpPr/>
          <p:nvPr/>
        </p:nvSpPr>
        <p:spPr>
          <a:xfrm>
            <a:off x="822960" y="3467039"/>
            <a:ext cx="76200" cy="76200"/>
          </a:xfrm>
          <a:prstGeom prst="rect">
            <a:avLst/>
          </a:prstGeom>
          <a:solidFill>
            <a:srgbClr val="8A63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70432" y="3282696"/>
            <a:ext cx="1024128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>
                <a:solidFill>
                  <a:srgbClr val="23181C"/>
                </a:solidFill>
                <a:latin typeface="DejaVu Sans"/>
              </a:rPr>
              <a:t>Sommelier önerisi yalnızca </a:t>
            </a:r>
            <a:r>
              <a:rPr sz="1600" b="1">
                <a:solidFill>
                  <a:srgbClr val="8A6320"/>
                </a:solidFill>
                <a:latin typeface="DejaVu Sans"/>
              </a:rPr>
              <a:t>kavda stokta olan</a:t>
            </a:r>
            <a:r>
              <a:rPr sz="1600" b="0">
                <a:solidFill>
                  <a:srgbClr val="23181C"/>
                </a:solidFill>
                <a:latin typeface="DejaVu Sans"/>
              </a:rPr>
              <a:t> şaraplardan seçilir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" y="4125407"/>
            <a:ext cx="76200" cy="76200"/>
          </a:xfrm>
          <a:prstGeom prst="rect">
            <a:avLst/>
          </a:prstGeom>
          <a:solidFill>
            <a:srgbClr val="8A63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70432" y="3941063"/>
            <a:ext cx="1024128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>
                <a:solidFill>
                  <a:srgbClr val="23181C"/>
                </a:solidFill>
                <a:latin typeface="DejaVu Sans"/>
              </a:rPr>
              <a:t>Sistem istemi sağlık iddiasını ve tıbbi tavsiyeyi açıkça yasaklar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2960" y="4783775"/>
            <a:ext cx="76200" cy="76200"/>
          </a:xfrm>
          <a:prstGeom prst="rect">
            <a:avLst/>
          </a:prstGeom>
          <a:solidFill>
            <a:srgbClr val="8A63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70432" y="4599431"/>
            <a:ext cx="1024128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>
                <a:solidFill>
                  <a:srgbClr val="23181C"/>
                </a:solidFill>
                <a:latin typeface="DejaVu Sans"/>
              </a:rPr>
              <a:t>18 yaş sınırı ve sorumlu tüketim her öneri ekranında hatırlatılır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22960" y="5442143"/>
            <a:ext cx="76200" cy="76200"/>
          </a:xfrm>
          <a:prstGeom prst="rect">
            <a:avLst/>
          </a:prstGeom>
          <a:solidFill>
            <a:srgbClr val="8A63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70432" y="5257799"/>
            <a:ext cx="1024128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>
                <a:solidFill>
                  <a:srgbClr val="23181C"/>
                </a:solidFill>
                <a:latin typeface="DejaVu Sans"/>
              </a:rPr>
              <a:t>Her çağrı kaydedilir: sağlayıcı, model, belirteç, maliyet, gecikme, sonuç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6327648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6B5C62"/>
                </a:solidFill>
                <a:latin typeface="DejaVu Sans"/>
              </a:rPr>
              <a:t>Wine House · Aziz Şekerdil · 2026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424160" y="6327648"/>
            <a:ext cx="9601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>
                <a:solidFill>
                  <a:srgbClr val="6B5C62"/>
                </a:solidFill>
                <a:latin typeface="DejaVu Sans"/>
              </a:rPr>
              <a:t>34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514600"/>
            <a:ext cx="12191969" cy="1828800"/>
          </a:xfrm>
          <a:prstGeom prst="rect">
            <a:avLst/>
          </a:prstGeom>
          <a:solidFill>
            <a:srgbClr val="F7F3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77240" y="2514600"/>
            <a:ext cx="63500" cy="1828800"/>
          </a:xfrm>
          <a:prstGeom prst="rect">
            <a:avLst/>
          </a:prstGeom>
          <a:solidFill>
            <a:srgbClr val="8A63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88720" y="2834640"/>
            <a:ext cx="96012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4000" b="1">
                <a:solidFill>
                  <a:srgbClr val="23181C"/>
                </a:solidFill>
                <a:latin typeface="DejaVu Sans"/>
              </a:rPr>
              <a:t>Güvenlik ve Kalite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463040"/>
            <a:ext cx="3657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6B5C62"/>
                </a:solidFill>
                <a:latin typeface="DejaVu Sans"/>
              </a:rPr>
              <a:t>35 / 58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6327648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6B5C62"/>
                </a:solidFill>
                <a:latin typeface="DejaVu Sans"/>
              </a:rPr>
              <a:t>Wine House · Aziz Şekerdil ·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24160" y="6327648"/>
            <a:ext cx="9601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>
                <a:solidFill>
                  <a:srgbClr val="6B5C62"/>
                </a:solidFill>
                <a:latin typeface="DejaVu Sans"/>
              </a:rPr>
              <a:t>35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66928"/>
            <a:ext cx="106070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23181C"/>
                </a:solidFill>
                <a:latin typeface="DejaVu Sans"/>
              </a:rPr>
              <a:t>19 rol · en az yetki</a:t>
            </a:r>
          </a:p>
          <a:p>
            <a:pPr algn="l">
              <a:spcAft>
                <a:spcPts val="0"/>
              </a:spcAft>
            </a:pPr>
            <a:r>
              <a:rPr sz="1400" b="0">
                <a:solidFill>
                  <a:srgbClr val="6B5C62"/>
                </a:solidFill>
                <a:latin typeface="DejaVu Sans"/>
              </a:rPr>
              <a:t>Herkes yalnızca görevini görür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572768"/>
            <a:ext cx="1371600" cy="38100"/>
          </a:xfrm>
          <a:prstGeom prst="rect">
            <a:avLst/>
          </a:prstGeom>
          <a:solidFill>
            <a:srgbClr val="8A63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2011680"/>
            <a:ext cx="2702966" cy="603504"/>
          </a:xfrm>
          <a:prstGeom prst="rect">
            <a:avLst/>
          </a:prstGeom>
          <a:solidFill>
            <a:srgbClr val="4A1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23544" y="2144450"/>
            <a:ext cx="2446934" cy="603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DejaVu Sans"/>
              </a:rPr>
              <a:t>Rol</a:t>
            </a:r>
          </a:p>
        </p:txBody>
      </p:sp>
      <p:sp>
        <p:nvSpPr>
          <p:cNvPr id="6" name="Rectangle 5"/>
          <p:cNvSpPr/>
          <p:nvPr/>
        </p:nvSpPr>
        <p:spPr>
          <a:xfrm>
            <a:off x="3535070" y="2011680"/>
            <a:ext cx="2490825" cy="603504"/>
          </a:xfrm>
          <a:prstGeom prst="rect">
            <a:avLst/>
          </a:prstGeom>
          <a:solidFill>
            <a:srgbClr val="4A1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81374" y="2144450"/>
            <a:ext cx="2234793" cy="603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DejaVu Sans"/>
              </a:rPr>
              <a:t>İzin</a:t>
            </a:r>
          </a:p>
        </p:txBody>
      </p:sp>
      <p:sp>
        <p:nvSpPr>
          <p:cNvPr id="8" name="Rectangle 7"/>
          <p:cNvSpPr/>
          <p:nvPr/>
        </p:nvSpPr>
        <p:spPr>
          <a:xfrm>
            <a:off x="6080760" y="2011680"/>
            <a:ext cx="5248656" cy="603504"/>
          </a:xfrm>
          <a:prstGeom prst="rect">
            <a:avLst/>
          </a:prstGeom>
          <a:solidFill>
            <a:srgbClr val="4A1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227064" y="2144450"/>
            <a:ext cx="4992624" cy="603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DejaVu Sans"/>
              </a:rPr>
              <a:t>Yapamadıkları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2670048"/>
            <a:ext cx="2702966" cy="603504"/>
          </a:xfrm>
          <a:prstGeom prst="rect">
            <a:avLst/>
          </a:prstGeom>
          <a:solidFill>
            <a:srgbClr val="F7F3F4"/>
          </a:solidFill>
          <a:ln w="12700">
            <a:solidFill>
              <a:srgbClr val="D9CC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23544" y="2790748"/>
            <a:ext cx="2446934" cy="603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8A6320"/>
                </a:solidFill>
                <a:latin typeface="DejaVu Sans"/>
              </a:rPr>
              <a:t>Garson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535070" y="2670048"/>
            <a:ext cx="2490825" cy="603504"/>
          </a:xfrm>
          <a:prstGeom prst="rect">
            <a:avLst/>
          </a:prstGeom>
          <a:solidFill>
            <a:srgbClr val="F7F3F4"/>
          </a:solidFill>
          <a:ln w="12700">
            <a:solidFill>
              <a:srgbClr val="D9CC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81374" y="2790748"/>
            <a:ext cx="2234793" cy="603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23181C"/>
                </a:solidFill>
                <a:latin typeface="DejaVu Sans"/>
              </a:rPr>
              <a:t>18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080760" y="2670048"/>
            <a:ext cx="5248656" cy="603504"/>
          </a:xfrm>
          <a:prstGeom prst="rect">
            <a:avLst/>
          </a:prstGeom>
          <a:solidFill>
            <a:srgbClr val="F7F3F4"/>
          </a:solidFill>
          <a:ln w="12700">
            <a:solidFill>
              <a:srgbClr val="D9CC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27064" y="2790748"/>
            <a:ext cx="4992624" cy="603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23181C"/>
                </a:solidFill>
                <a:latin typeface="DejaVu Sans"/>
              </a:rPr>
              <a:t>Kav yönetimi · kullanıcı ekleme · gün sonu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77240" y="3310128"/>
            <a:ext cx="2702966" cy="603504"/>
          </a:xfrm>
          <a:prstGeom prst="rect">
            <a:avLst/>
          </a:prstGeom>
          <a:solidFill>
            <a:srgbClr val="EFE7EA"/>
          </a:solidFill>
          <a:ln w="12700">
            <a:solidFill>
              <a:srgbClr val="D9CC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23544" y="3430828"/>
            <a:ext cx="2446934" cy="603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8A6320"/>
                </a:solidFill>
                <a:latin typeface="DejaVu Sans"/>
              </a:rPr>
              <a:t>Sommelier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535070" y="3310128"/>
            <a:ext cx="2490825" cy="603504"/>
          </a:xfrm>
          <a:prstGeom prst="rect">
            <a:avLst/>
          </a:prstGeom>
          <a:solidFill>
            <a:srgbClr val="EFE7EA"/>
          </a:solidFill>
          <a:ln w="12700">
            <a:solidFill>
              <a:srgbClr val="D9CC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681374" y="3430828"/>
            <a:ext cx="2234793" cy="603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23181C"/>
                </a:solidFill>
                <a:latin typeface="DejaVu Sans"/>
              </a:rPr>
              <a:t>41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080760" y="3310128"/>
            <a:ext cx="5248656" cy="603504"/>
          </a:xfrm>
          <a:prstGeom prst="rect">
            <a:avLst/>
          </a:prstGeom>
          <a:solidFill>
            <a:srgbClr val="EFE7EA"/>
          </a:solidFill>
          <a:ln w="12700">
            <a:solidFill>
              <a:srgbClr val="D9CC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227064" y="3430828"/>
            <a:ext cx="4992624" cy="603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23181C"/>
                </a:solidFill>
                <a:latin typeface="DejaVu Sans"/>
              </a:rPr>
              <a:t>Gün sonu · ödeme alma · personel yönetimi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77240" y="3950208"/>
            <a:ext cx="2702966" cy="603504"/>
          </a:xfrm>
          <a:prstGeom prst="rect">
            <a:avLst/>
          </a:prstGeom>
          <a:solidFill>
            <a:srgbClr val="F7F3F4"/>
          </a:solidFill>
          <a:ln w="12700">
            <a:solidFill>
              <a:srgbClr val="D9CC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23544" y="4070908"/>
            <a:ext cx="2446934" cy="603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8A6320"/>
                </a:solidFill>
                <a:latin typeface="DejaVu Sans"/>
              </a:rPr>
              <a:t>Kasiyer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535070" y="3950208"/>
            <a:ext cx="2490825" cy="603504"/>
          </a:xfrm>
          <a:prstGeom prst="rect">
            <a:avLst/>
          </a:prstGeom>
          <a:solidFill>
            <a:srgbClr val="F7F3F4"/>
          </a:solidFill>
          <a:ln w="12700">
            <a:solidFill>
              <a:srgbClr val="D9CC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681374" y="4070908"/>
            <a:ext cx="2234793" cy="603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23181C"/>
                </a:solidFill>
                <a:latin typeface="DejaVu Sans"/>
              </a:rPr>
              <a:t>12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080760" y="3950208"/>
            <a:ext cx="5248656" cy="603504"/>
          </a:xfrm>
          <a:prstGeom prst="rect">
            <a:avLst/>
          </a:prstGeom>
          <a:solidFill>
            <a:srgbClr val="F7F3F4"/>
          </a:solidFill>
          <a:ln w="12700">
            <a:solidFill>
              <a:srgbClr val="D9CC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227064" y="4070908"/>
            <a:ext cx="4992624" cy="603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23181C"/>
                </a:solidFill>
                <a:latin typeface="DejaVu Sans"/>
              </a:rPr>
              <a:t>Menü değiştirme · stok düzeltme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77240" y="4590288"/>
            <a:ext cx="2702966" cy="603504"/>
          </a:xfrm>
          <a:prstGeom prst="rect">
            <a:avLst/>
          </a:prstGeom>
          <a:solidFill>
            <a:srgbClr val="EFE7EA"/>
          </a:solidFill>
          <a:ln w="12700">
            <a:solidFill>
              <a:srgbClr val="D9CC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23544" y="4710988"/>
            <a:ext cx="2446934" cy="603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8A6320"/>
                </a:solidFill>
                <a:latin typeface="DejaVu Sans"/>
              </a:rPr>
              <a:t>Denetçi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535070" y="4590288"/>
            <a:ext cx="2490825" cy="603504"/>
          </a:xfrm>
          <a:prstGeom prst="rect">
            <a:avLst/>
          </a:prstGeom>
          <a:solidFill>
            <a:srgbClr val="EFE7EA"/>
          </a:solidFill>
          <a:ln w="12700">
            <a:solidFill>
              <a:srgbClr val="D9CC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681374" y="4710988"/>
            <a:ext cx="2234793" cy="603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23181C"/>
                </a:solidFill>
                <a:latin typeface="DejaVu Sans"/>
              </a:rPr>
              <a:t>101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080760" y="4590288"/>
            <a:ext cx="5248656" cy="603504"/>
          </a:xfrm>
          <a:prstGeom prst="rect">
            <a:avLst/>
          </a:prstGeom>
          <a:solidFill>
            <a:srgbClr val="EFE7EA"/>
          </a:solidFill>
          <a:ln w="12700">
            <a:solidFill>
              <a:srgbClr val="D9CC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227064" y="4710988"/>
            <a:ext cx="4992624" cy="603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8A6320"/>
                </a:solidFill>
                <a:latin typeface="DejaVu Sans"/>
              </a:rPr>
              <a:t>Hiçbir yazma işlemi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77240" y="5230368"/>
            <a:ext cx="2702966" cy="603504"/>
          </a:xfrm>
          <a:prstGeom prst="rect">
            <a:avLst/>
          </a:prstGeom>
          <a:solidFill>
            <a:srgbClr val="F7F3F4"/>
          </a:solidFill>
          <a:ln w="12700">
            <a:solidFill>
              <a:srgbClr val="D9CC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23544" y="5351068"/>
            <a:ext cx="2446934" cy="603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8A6320"/>
                </a:solidFill>
                <a:latin typeface="DejaVu Sans"/>
              </a:rPr>
              <a:t>Sistem yöneticisi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535070" y="5230368"/>
            <a:ext cx="2490825" cy="603504"/>
          </a:xfrm>
          <a:prstGeom prst="rect">
            <a:avLst/>
          </a:prstGeom>
          <a:solidFill>
            <a:srgbClr val="F7F3F4"/>
          </a:solidFill>
          <a:ln w="12700">
            <a:solidFill>
              <a:srgbClr val="D9CC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681374" y="5351068"/>
            <a:ext cx="2234793" cy="603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23181C"/>
                </a:solidFill>
                <a:latin typeface="DejaVu Sans"/>
              </a:rPr>
              <a:t>519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080760" y="5230368"/>
            <a:ext cx="5248656" cy="603504"/>
          </a:xfrm>
          <a:prstGeom prst="rect">
            <a:avLst/>
          </a:prstGeom>
          <a:solidFill>
            <a:srgbClr val="F7F3F4"/>
          </a:solidFill>
          <a:ln w="12700">
            <a:solidFill>
              <a:srgbClr val="D9CC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227064" y="5351068"/>
            <a:ext cx="4992624" cy="603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23181C"/>
                </a:solidFill>
                <a:latin typeface="DejaVu Sans"/>
              </a:rPr>
              <a:t>—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77240" y="6327648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6B5C62"/>
                </a:solidFill>
                <a:latin typeface="DejaVu Sans"/>
              </a:rPr>
              <a:t>Wine House · Aziz Şekerdil · 2026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424160" y="6327648"/>
            <a:ext cx="9601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>
                <a:solidFill>
                  <a:srgbClr val="6B5C62"/>
                </a:solidFill>
                <a:latin typeface="DejaVu Sans"/>
              </a:rPr>
              <a:t>36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66928"/>
            <a:ext cx="106070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23181C"/>
                </a:solidFill>
                <a:latin typeface="DejaVu Sans"/>
              </a:rPr>
              <a:t>İkinci onay ve denetim kaydı</a:t>
            </a:r>
          </a:p>
          <a:p>
            <a:pPr algn="l">
              <a:spcAft>
                <a:spcPts val="0"/>
              </a:spcAft>
            </a:pPr>
            <a:r>
              <a:rPr sz="1400" b="0">
                <a:solidFill>
                  <a:srgbClr val="6B5C62"/>
                </a:solidFill>
                <a:latin typeface="DejaVu Sans"/>
              </a:rPr>
              <a:t>Görevler ayrılığı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572768"/>
            <a:ext cx="1371600" cy="38100"/>
          </a:xfrm>
          <a:prstGeom prst="rect">
            <a:avLst/>
          </a:prstGeom>
          <a:solidFill>
            <a:srgbClr val="8A63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22960" y="2150303"/>
            <a:ext cx="76200" cy="76200"/>
          </a:xfrm>
          <a:prstGeom prst="rect">
            <a:avLst/>
          </a:prstGeom>
          <a:solidFill>
            <a:srgbClr val="8A63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70432" y="1965960"/>
            <a:ext cx="1024128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>
                <a:solidFill>
                  <a:srgbClr val="23181C"/>
                </a:solidFill>
                <a:latin typeface="DejaVu Sans"/>
              </a:rPr>
              <a:t>Kritik işlemler onay gerektirir: iptal, iade, limit üstü indirim, ikram, stok düzeltme, geri yükleme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2808671"/>
            <a:ext cx="76200" cy="76200"/>
          </a:xfrm>
          <a:prstGeom prst="rect">
            <a:avLst/>
          </a:prstGeom>
          <a:solidFill>
            <a:srgbClr val="8A63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70432" y="2624328"/>
            <a:ext cx="1024128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8A6320"/>
                </a:solidFill>
                <a:latin typeface="DejaVu Sans"/>
              </a:rPr>
              <a:t>Kullanıcı kendi talebini onaylayamaz</a:t>
            </a:r>
          </a:p>
        </p:txBody>
      </p:sp>
      <p:sp>
        <p:nvSpPr>
          <p:cNvPr id="8" name="Rectangle 7"/>
          <p:cNvSpPr/>
          <p:nvPr/>
        </p:nvSpPr>
        <p:spPr>
          <a:xfrm>
            <a:off x="822960" y="3467039"/>
            <a:ext cx="76200" cy="76200"/>
          </a:xfrm>
          <a:prstGeom prst="rect">
            <a:avLst/>
          </a:prstGeom>
          <a:solidFill>
            <a:srgbClr val="8A63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70432" y="3282696"/>
            <a:ext cx="1024128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>
                <a:solidFill>
                  <a:srgbClr val="23181C"/>
                </a:solidFill>
                <a:latin typeface="DejaVu Sans"/>
              </a:rPr>
              <a:t>Onay alınmadan işlem uygulanmaz — talep oluşturulur ve süreç durur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" y="4125407"/>
            <a:ext cx="76200" cy="76200"/>
          </a:xfrm>
          <a:prstGeom prst="rect">
            <a:avLst/>
          </a:prstGeom>
          <a:solidFill>
            <a:srgbClr val="8A63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70432" y="3941063"/>
            <a:ext cx="1024128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>
                <a:solidFill>
                  <a:srgbClr val="23181C"/>
                </a:solidFill>
                <a:latin typeface="DejaVu Sans"/>
              </a:rPr>
              <a:t>Denetim kaydı </a:t>
            </a:r>
            <a:r>
              <a:rPr sz="1600" b="1">
                <a:solidFill>
                  <a:srgbClr val="8A6320"/>
                </a:solidFill>
                <a:latin typeface="DejaVu Sans"/>
              </a:rPr>
              <a:t>değiştirilemez ve silinemez</a:t>
            </a:r>
            <a:r>
              <a:rPr sz="1600" b="0">
                <a:solidFill>
                  <a:srgbClr val="23181C"/>
                </a:solidFill>
                <a:latin typeface="DejaVu Sans"/>
              </a:rPr>
              <a:t> — kod düzeyinde engellenir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2960" y="4783775"/>
            <a:ext cx="76200" cy="76200"/>
          </a:xfrm>
          <a:prstGeom prst="rect">
            <a:avLst/>
          </a:prstGeom>
          <a:solidFill>
            <a:srgbClr val="8A63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70432" y="4599431"/>
            <a:ext cx="1024128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>
                <a:solidFill>
                  <a:srgbClr val="23181C"/>
                </a:solidFill>
                <a:latin typeface="DejaVu Sans"/>
              </a:rPr>
              <a:t>Yetki reddi de kaydedilir; yetkisiz erişim denemeleri izlenebilir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22960" y="5442143"/>
            <a:ext cx="76200" cy="76200"/>
          </a:xfrm>
          <a:prstGeom prst="rect">
            <a:avLst/>
          </a:prstGeom>
          <a:solidFill>
            <a:srgbClr val="8A63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70432" y="5257799"/>
            <a:ext cx="1024128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>
                <a:solidFill>
                  <a:srgbClr val="23181C"/>
                </a:solidFill>
                <a:latin typeface="DejaVu Sans"/>
              </a:rPr>
              <a:t>Saklama süresi dolan kayıtlar önce arşive yazılır, sonra kaldırılır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6327648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6B5C62"/>
                </a:solidFill>
                <a:latin typeface="DejaVu Sans"/>
              </a:rPr>
              <a:t>Wine House · Aziz Şekerdil · 2026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424160" y="6327648"/>
            <a:ext cx="9601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>
                <a:solidFill>
                  <a:srgbClr val="6B5C62"/>
                </a:solidFill>
                <a:latin typeface="DejaVu Sans"/>
              </a:rPr>
              <a:t>37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66928"/>
            <a:ext cx="106070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23181C"/>
                </a:solidFill>
                <a:latin typeface="DejaVu Sans"/>
              </a:rPr>
              <a:t>Yedekleme ve geri yükleme</a:t>
            </a:r>
          </a:p>
          <a:p>
            <a:pPr algn="l">
              <a:spcAft>
                <a:spcPts val="0"/>
              </a:spcAft>
            </a:pPr>
            <a:r>
              <a:rPr sz="1400" b="0">
                <a:solidFill>
                  <a:srgbClr val="6B5C62"/>
                </a:solidFill>
                <a:latin typeface="DejaVu Sans"/>
              </a:rPr>
              <a:t>Yedek, geri yüklendiği doğrulanana kadar yedek değildir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572768"/>
            <a:ext cx="1371600" cy="38100"/>
          </a:xfrm>
          <a:prstGeom prst="rect">
            <a:avLst/>
          </a:prstGeom>
          <a:solidFill>
            <a:srgbClr val="8A63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22960" y="2125065"/>
            <a:ext cx="76200" cy="76200"/>
          </a:xfrm>
          <a:prstGeom prst="rect">
            <a:avLst/>
          </a:prstGeom>
          <a:solidFill>
            <a:srgbClr val="8A63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70432" y="1965960"/>
            <a:ext cx="10241280" cy="56823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0">
                <a:solidFill>
                  <a:srgbClr val="23181C"/>
                </a:solidFill>
                <a:latin typeface="DejaVu Sans"/>
              </a:rPr>
              <a:t>Şifreli ZIP arşivi + SHA-256 bütünlük özeti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2693299"/>
            <a:ext cx="76200" cy="76200"/>
          </a:xfrm>
          <a:prstGeom prst="rect">
            <a:avLst/>
          </a:prstGeom>
          <a:solidFill>
            <a:srgbClr val="8A63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70432" y="2534194"/>
            <a:ext cx="10241280" cy="56823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0">
                <a:solidFill>
                  <a:srgbClr val="23181C"/>
                </a:solidFill>
                <a:latin typeface="DejaVu Sans"/>
              </a:rPr>
              <a:t>Her yedek alındıktan sonra </a:t>
            </a:r>
            <a:r>
              <a:rPr sz="1450" b="1">
                <a:solidFill>
                  <a:srgbClr val="8A6320"/>
                </a:solidFill>
                <a:latin typeface="DejaVu Sans"/>
              </a:rPr>
              <a:t>otomatik doğrulanır</a:t>
            </a:r>
          </a:p>
        </p:txBody>
      </p:sp>
      <p:sp>
        <p:nvSpPr>
          <p:cNvPr id="8" name="Rectangle 7"/>
          <p:cNvSpPr/>
          <p:nvPr/>
        </p:nvSpPr>
        <p:spPr>
          <a:xfrm>
            <a:off x="822960" y="3261534"/>
            <a:ext cx="76200" cy="76200"/>
          </a:xfrm>
          <a:prstGeom prst="rect">
            <a:avLst/>
          </a:prstGeom>
          <a:solidFill>
            <a:srgbClr val="8A63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70432" y="3102428"/>
            <a:ext cx="10241280" cy="56823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0">
                <a:solidFill>
                  <a:srgbClr val="23181C"/>
                </a:solidFill>
                <a:latin typeface="DejaVu Sans"/>
              </a:rPr>
              <a:t>Geri yükleme ikinci onay gerektirir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" y="3829768"/>
            <a:ext cx="76200" cy="76200"/>
          </a:xfrm>
          <a:prstGeom prst="rect">
            <a:avLst/>
          </a:prstGeom>
          <a:solidFill>
            <a:srgbClr val="8A63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70432" y="3670662"/>
            <a:ext cx="10241280" cy="56823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0">
                <a:solidFill>
                  <a:srgbClr val="23181C"/>
                </a:solidFill>
                <a:latin typeface="DejaVu Sans"/>
              </a:rPr>
              <a:t>Canlı veritabanına yüklemeden önce </a:t>
            </a:r>
            <a:r>
              <a:rPr sz="1450" b="1">
                <a:solidFill>
                  <a:srgbClr val="8A6320"/>
                </a:solidFill>
                <a:latin typeface="DejaVu Sans"/>
              </a:rPr>
              <a:t>otomatik güvenlik yedeği</a:t>
            </a:r>
            <a:r>
              <a:rPr sz="1450" b="0">
                <a:solidFill>
                  <a:srgbClr val="23181C"/>
                </a:solidFill>
                <a:latin typeface="DejaVu Sans"/>
              </a:rPr>
              <a:t> alınır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2960" y="4398002"/>
            <a:ext cx="76200" cy="76200"/>
          </a:xfrm>
          <a:prstGeom prst="rect">
            <a:avLst/>
          </a:prstGeom>
          <a:solidFill>
            <a:srgbClr val="8A63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70432" y="4238897"/>
            <a:ext cx="10241280" cy="56823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0">
                <a:solidFill>
                  <a:srgbClr val="23181C"/>
                </a:solidFill>
                <a:latin typeface="DejaVu Sans"/>
              </a:rPr>
              <a:t>Varsayılan hedef test veritabanı — tatbikat yapılabilir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22960" y="4966237"/>
            <a:ext cx="76200" cy="76200"/>
          </a:xfrm>
          <a:prstGeom prst="rect">
            <a:avLst/>
          </a:prstGeom>
          <a:solidFill>
            <a:srgbClr val="8A63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70432" y="4807131"/>
            <a:ext cx="10241280" cy="56823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0">
                <a:solidFill>
                  <a:srgbClr val="23181C"/>
                </a:solidFill>
                <a:latin typeface="DejaVu Sans"/>
              </a:rPr>
              <a:t>Saklama politikası </a:t>
            </a:r>
            <a:r>
              <a:rPr sz="1450" b="1">
                <a:solidFill>
                  <a:srgbClr val="8A6320"/>
                </a:solidFill>
                <a:latin typeface="DejaVu Sans"/>
              </a:rPr>
              <a:t>en az 3 yedeği daima korur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22960" y="5534471"/>
            <a:ext cx="76200" cy="76200"/>
          </a:xfrm>
          <a:prstGeom prst="rect">
            <a:avLst/>
          </a:prstGeom>
          <a:solidFill>
            <a:srgbClr val="8A63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170432" y="5375365"/>
            <a:ext cx="10241280" cy="56823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0">
                <a:solidFill>
                  <a:srgbClr val="23181C"/>
                </a:solidFill>
                <a:latin typeface="DejaVu Sans"/>
              </a:rPr>
              <a:t>Windows Görev Zamanlayıcı ile günlük otomatik yedek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6327648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6B5C62"/>
                </a:solidFill>
                <a:latin typeface="DejaVu Sans"/>
              </a:rPr>
              <a:t>Wine House · Aziz Şekerdil · 2026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424160" y="6327648"/>
            <a:ext cx="9601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>
                <a:solidFill>
                  <a:srgbClr val="6B5C62"/>
                </a:solidFill>
                <a:latin typeface="DejaVu Sans"/>
              </a:rPr>
              <a:t>38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66928"/>
            <a:ext cx="106070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23181C"/>
                </a:solidFill>
                <a:latin typeface="DejaVu Sans"/>
              </a:rPr>
              <a:t>Kalite göstergeleri</a:t>
            </a:r>
          </a:p>
          <a:p>
            <a:pPr algn="l">
              <a:spcAft>
                <a:spcPts val="0"/>
              </a:spcAft>
            </a:pPr>
            <a:r>
              <a:rPr sz="1400" b="0">
                <a:solidFill>
                  <a:srgbClr val="6B5C62"/>
                </a:solidFill>
                <a:latin typeface="DejaVu Sans"/>
              </a:rPr>
              <a:t>Ölçüldü, raporlandı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572768"/>
            <a:ext cx="1371600" cy="38100"/>
          </a:xfrm>
          <a:prstGeom prst="rect">
            <a:avLst/>
          </a:prstGeom>
          <a:solidFill>
            <a:srgbClr val="8A63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77240" y="2011680"/>
            <a:ext cx="3334512" cy="1508760"/>
          </a:xfrm>
          <a:prstGeom prst="roundRect">
            <a:avLst>
              <a:gd name="adj" fmla="val 6000"/>
            </a:avLst>
          </a:prstGeom>
          <a:solidFill>
            <a:srgbClr val="F7F3F4"/>
          </a:solidFill>
          <a:ln w="12700">
            <a:solidFill>
              <a:srgbClr val="D9CC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77240" y="2011680"/>
            <a:ext cx="50800" cy="1508760"/>
          </a:xfrm>
          <a:prstGeom prst="rect">
            <a:avLst/>
          </a:prstGeom>
          <a:solidFill>
            <a:srgbClr val="8A63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96695" y="2194560"/>
            <a:ext cx="2968752" cy="123443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8A6320"/>
                </a:solidFill>
                <a:latin typeface="DejaVu Sans"/>
              </a:rPr>
              <a:t>380</a:t>
            </a:r>
          </a:p>
          <a:p>
            <a:pPr algn="l">
              <a:spcAft>
                <a:spcPts val="0"/>
              </a:spcAft>
            </a:pPr>
            <a:r>
              <a:rPr sz="1100" b="0">
                <a:solidFill>
                  <a:srgbClr val="6B5C62"/>
                </a:solidFill>
                <a:latin typeface="DejaVu Sans"/>
              </a:rPr>
              <a:t>test · tamamı geçiyor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12920" y="2011680"/>
            <a:ext cx="3334512" cy="1508760"/>
          </a:xfrm>
          <a:prstGeom prst="roundRect">
            <a:avLst>
              <a:gd name="adj" fmla="val 6000"/>
            </a:avLst>
          </a:prstGeom>
          <a:solidFill>
            <a:srgbClr val="F7F3F4"/>
          </a:solidFill>
          <a:ln w="12700">
            <a:solidFill>
              <a:srgbClr val="D9CC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312920" y="2011680"/>
            <a:ext cx="50800" cy="1508760"/>
          </a:xfrm>
          <a:prstGeom prst="rect">
            <a:avLst/>
          </a:prstGeom>
          <a:solidFill>
            <a:srgbClr val="8A63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32376" y="2194560"/>
            <a:ext cx="2968752" cy="123443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8A6320"/>
                </a:solidFill>
                <a:latin typeface="DejaVu Sans"/>
              </a:rPr>
              <a:t>%73</a:t>
            </a:r>
          </a:p>
          <a:p>
            <a:pPr algn="l">
              <a:spcAft>
                <a:spcPts val="0"/>
              </a:spcAft>
            </a:pPr>
            <a:r>
              <a:rPr sz="1100" b="0">
                <a:solidFill>
                  <a:srgbClr val="6B5C62"/>
                </a:solidFill>
                <a:latin typeface="DejaVu Sans"/>
              </a:rPr>
              <a:t>satır kapsamı (tüm kod)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848600" y="2011680"/>
            <a:ext cx="3334512" cy="1508760"/>
          </a:xfrm>
          <a:prstGeom prst="roundRect">
            <a:avLst>
              <a:gd name="adj" fmla="val 6000"/>
            </a:avLst>
          </a:prstGeom>
          <a:solidFill>
            <a:srgbClr val="F7F3F4"/>
          </a:solidFill>
          <a:ln w="12700">
            <a:solidFill>
              <a:srgbClr val="D9CC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848600" y="2011680"/>
            <a:ext cx="50800" cy="1508760"/>
          </a:xfrm>
          <a:prstGeom prst="rect">
            <a:avLst/>
          </a:prstGeom>
          <a:solidFill>
            <a:srgbClr val="8A63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68056" y="2194560"/>
            <a:ext cx="2968752" cy="123443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8A6320"/>
                </a:solidFill>
                <a:latin typeface="DejaVu Sans"/>
              </a:rPr>
              <a:t>0</a:t>
            </a:r>
          </a:p>
          <a:p>
            <a:pPr algn="l">
              <a:spcAft>
                <a:spcPts val="0"/>
              </a:spcAft>
            </a:pPr>
            <a:r>
              <a:rPr sz="1100" b="0">
                <a:solidFill>
                  <a:srgbClr val="6B5C62"/>
                </a:solidFill>
                <a:latin typeface="DejaVu Sans"/>
              </a:rPr>
              <a:t>çalışma zamanı bağımlılığında bilinen zafiyet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77240" y="3703320"/>
            <a:ext cx="3334512" cy="1508760"/>
          </a:xfrm>
          <a:prstGeom prst="roundRect">
            <a:avLst>
              <a:gd name="adj" fmla="val 6000"/>
            </a:avLst>
          </a:prstGeom>
          <a:solidFill>
            <a:srgbClr val="F7F3F4"/>
          </a:solidFill>
          <a:ln w="12700">
            <a:solidFill>
              <a:srgbClr val="D9CC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77240" y="3703320"/>
            <a:ext cx="50800" cy="1508760"/>
          </a:xfrm>
          <a:prstGeom prst="rect">
            <a:avLst/>
          </a:prstGeom>
          <a:solidFill>
            <a:srgbClr val="8A63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96695" y="3886200"/>
            <a:ext cx="2968752" cy="123443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8A6320"/>
                </a:solidFill>
                <a:latin typeface="DejaVu Sans"/>
              </a:rPr>
              <a:t>0</a:t>
            </a:r>
          </a:p>
          <a:p>
            <a:pPr algn="l">
              <a:spcAft>
                <a:spcPts val="0"/>
              </a:spcAft>
            </a:pPr>
            <a:r>
              <a:rPr sz="1100" b="0">
                <a:solidFill>
                  <a:srgbClr val="6B5C62"/>
                </a:solidFill>
                <a:latin typeface="DejaVu Sans"/>
              </a:rPr>
              <a:t>yüksek/orta seviye statik analiz bulgusu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312920" y="3703320"/>
            <a:ext cx="3334512" cy="1508760"/>
          </a:xfrm>
          <a:prstGeom prst="roundRect">
            <a:avLst>
              <a:gd name="adj" fmla="val 6000"/>
            </a:avLst>
          </a:prstGeom>
          <a:solidFill>
            <a:srgbClr val="F7F3F4"/>
          </a:solidFill>
          <a:ln w="12700">
            <a:solidFill>
              <a:srgbClr val="D9CC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312920" y="3703320"/>
            <a:ext cx="50800" cy="1508760"/>
          </a:xfrm>
          <a:prstGeom prst="rect">
            <a:avLst/>
          </a:prstGeom>
          <a:solidFill>
            <a:srgbClr val="8A63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32376" y="3886200"/>
            <a:ext cx="2968752" cy="123443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8A6320"/>
                </a:solidFill>
                <a:latin typeface="DejaVu Sans"/>
              </a:rPr>
              <a:t>0</a:t>
            </a:r>
          </a:p>
          <a:p>
            <a:pPr algn="l">
              <a:spcAft>
                <a:spcPts val="0"/>
              </a:spcAft>
            </a:pPr>
            <a:r>
              <a:rPr sz="1100" b="0">
                <a:solidFill>
                  <a:srgbClr val="6B5C62"/>
                </a:solidFill>
                <a:latin typeface="DejaVu Sans"/>
              </a:rPr>
              <a:t>gizli anahtar taraması bulgusu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848600" y="3703320"/>
            <a:ext cx="3334512" cy="1508760"/>
          </a:xfrm>
          <a:prstGeom prst="roundRect">
            <a:avLst>
              <a:gd name="adj" fmla="val 6000"/>
            </a:avLst>
          </a:prstGeom>
          <a:solidFill>
            <a:srgbClr val="F7F3F4"/>
          </a:solidFill>
          <a:ln w="12700">
            <a:solidFill>
              <a:srgbClr val="D9CC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848600" y="3703320"/>
            <a:ext cx="50800" cy="1508760"/>
          </a:xfrm>
          <a:prstGeom prst="rect">
            <a:avLst/>
          </a:prstGeom>
          <a:solidFill>
            <a:srgbClr val="8A63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068056" y="3886200"/>
            <a:ext cx="2968752" cy="123443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8A6320"/>
                </a:solidFill>
                <a:latin typeface="DejaVu Sans"/>
              </a:rPr>
              <a:t>23</a:t>
            </a:r>
          </a:p>
          <a:p>
            <a:pPr algn="l">
              <a:spcAft>
                <a:spcPts val="0"/>
              </a:spcAft>
            </a:pPr>
            <a:r>
              <a:rPr sz="1100" b="0">
                <a:solidFill>
                  <a:srgbClr val="6B5C62"/>
                </a:solidFill>
                <a:latin typeface="DejaVu Sans"/>
              </a:rPr>
              <a:t>veritabanı göçü (migration)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7240" y="5779008"/>
            <a:ext cx="1060704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6B5C62"/>
                </a:solidFill>
                <a:latin typeface="DejaVu Sans"/>
              </a:rPr>
              <a:t>Sayılar sürüm anında depodan ölçülmüştür: pytest, coverage, pip-audit/osv-scanner (çalışma zamanı bağımlılıkları), bandit ve semgrep (orta+ seviye), gitleaks. Ayrıntı: PUBLIC_RELEASE_MANIFEST.json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7240" y="6327648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6B5C62"/>
                </a:solidFill>
                <a:latin typeface="DejaVu Sans"/>
              </a:rPr>
              <a:t>Wine House · Aziz Şekerdil · 2026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424160" y="6327648"/>
            <a:ext cx="9601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>
                <a:solidFill>
                  <a:srgbClr val="6B5C62"/>
                </a:solidFill>
                <a:latin typeface="DejaVu Sans"/>
              </a:rPr>
              <a:t>39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66928"/>
            <a:ext cx="106070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23181C"/>
                </a:solidFill>
                <a:latin typeface="DejaVu Sans"/>
              </a:rPr>
              <a:t>Teknik künye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572768"/>
            <a:ext cx="1371600" cy="38100"/>
          </a:xfrm>
          <a:prstGeom prst="rect">
            <a:avLst/>
          </a:prstGeom>
          <a:solidFill>
            <a:srgbClr val="8A63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2011680"/>
            <a:ext cx="3127248" cy="457200"/>
          </a:xfrm>
          <a:prstGeom prst="rect">
            <a:avLst/>
          </a:prstGeom>
          <a:solidFill>
            <a:srgbClr val="4A1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23544" y="2112264"/>
            <a:ext cx="287121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DejaVu Sans"/>
              </a:rPr>
              <a:t>Katman</a:t>
            </a:r>
          </a:p>
        </p:txBody>
      </p:sp>
      <p:sp>
        <p:nvSpPr>
          <p:cNvPr id="6" name="Rectangle 5"/>
          <p:cNvSpPr/>
          <p:nvPr/>
        </p:nvSpPr>
        <p:spPr>
          <a:xfrm>
            <a:off x="3959352" y="2011680"/>
            <a:ext cx="7370063" cy="457200"/>
          </a:xfrm>
          <a:prstGeom prst="rect">
            <a:avLst/>
          </a:prstGeom>
          <a:solidFill>
            <a:srgbClr val="4A1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05656" y="2112264"/>
            <a:ext cx="7114031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DejaVu Sans"/>
              </a:rPr>
              <a:t>Seçim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2523744"/>
            <a:ext cx="3127248" cy="457200"/>
          </a:xfrm>
          <a:prstGeom prst="rect">
            <a:avLst/>
          </a:prstGeom>
          <a:solidFill>
            <a:srgbClr val="F7F3F4"/>
          </a:solidFill>
          <a:ln w="12700">
            <a:solidFill>
              <a:srgbClr val="D9CC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23544" y="2615184"/>
            <a:ext cx="287121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8A6320"/>
                </a:solidFill>
                <a:latin typeface="DejaVu Sans"/>
              </a:rPr>
              <a:t>Dil / Çatı</a:t>
            </a:r>
          </a:p>
        </p:txBody>
      </p:sp>
      <p:sp>
        <p:nvSpPr>
          <p:cNvPr id="10" name="Rectangle 9"/>
          <p:cNvSpPr/>
          <p:nvPr/>
        </p:nvSpPr>
        <p:spPr>
          <a:xfrm>
            <a:off x="3959352" y="2523744"/>
            <a:ext cx="7370063" cy="457200"/>
          </a:xfrm>
          <a:prstGeom prst="rect">
            <a:avLst/>
          </a:prstGeom>
          <a:solidFill>
            <a:srgbClr val="F7F3F4"/>
          </a:solidFill>
          <a:ln w="12700">
            <a:solidFill>
              <a:srgbClr val="D9CC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05656" y="2615184"/>
            <a:ext cx="7114031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23181C"/>
                </a:solidFill>
                <a:latin typeface="DejaVu Sans"/>
              </a:rPr>
              <a:t>Python 3.11+ · Django 5.2 · Django REST Framework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7240" y="3017520"/>
            <a:ext cx="3127248" cy="457200"/>
          </a:xfrm>
          <a:prstGeom prst="rect">
            <a:avLst/>
          </a:prstGeom>
          <a:solidFill>
            <a:srgbClr val="EFE7EA"/>
          </a:solidFill>
          <a:ln w="12700">
            <a:solidFill>
              <a:srgbClr val="D9CC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23544" y="3108960"/>
            <a:ext cx="287121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8A6320"/>
                </a:solidFill>
                <a:latin typeface="DejaVu Sans"/>
              </a:rPr>
              <a:t>Veritabanı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959352" y="3017520"/>
            <a:ext cx="7370063" cy="457200"/>
          </a:xfrm>
          <a:prstGeom prst="rect">
            <a:avLst/>
          </a:prstGeom>
          <a:solidFill>
            <a:srgbClr val="EFE7EA"/>
          </a:solidFill>
          <a:ln w="12700">
            <a:solidFill>
              <a:srgbClr val="D9CC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105656" y="3108960"/>
            <a:ext cx="7114031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23181C"/>
                </a:solidFill>
                <a:latin typeface="DejaVu Sans"/>
              </a:rPr>
              <a:t>SQLite (WAL) · PostgreSQL seçeneği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77240" y="3511296"/>
            <a:ext cx="3127248" cy="457200"/>
          </a:xfrm>
          <a:prstGeom prst="rect">
            <a:avLst/>
          </a:prstGeom>
          <a:solidFill>
            <a:srgbClr val="F7F3F4"/>
          </a:solidFill>
          <a:ln w="12700">
            <a:solidFill>
              <a:srgbClr val="D9CC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23544" y="3602736"/>
            <a:ext cx="287121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8A6320"/>
                </a:solidFill>
                <a:latin typeface="DejaVu Sans"/>
              </a:rPr>
              <a:t>Arayüz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959352" y="3511296"/>
            <a:ext cx="7370063" cy="457200"/>
          </a:xfrm>
          <a:prstGeom prst="rect">
            <a:avLst/>
          </a:prstGeom>
          <a:solidFill>
            <a:srgbClr val="F7F3F4"/>
          </a:solidFill>
          <a:ln w="12700">
            <a:solidFill>
              <a:srgbClr val="D9CC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105656" y="3602736"/>
            <a:ext cx="7114031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23181C"/>
                </a:solidFill>
                <a:latin typeface="DejaVu Sans"/>
              </a:rPr>
              <a:t>Bootstrap 5.3 + HTMX — </a:t>
            </a:r>
            <a:r>
              <a:rPr sz="1150" b="1">
                <a:solidFill>
                  <a:srgbClr val="8A6320"/>
                </a:solidFill>
                <a:latin typeface="DejaVu Sans"/>
              </a:rPr>
              <a:t>yerel paketli, CDN yok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77240" y="4005072"/>
            <a:ext cx="3127248" cy="457200"/>
          </a:xfrm>
          <a:prstGeom prst="rect">
            <a:avLst/>
          </a:prstGeom>
          <a:solidFill>
            <a:srgbClr val="EFE7EA"/>
          </a:solidFill>
          <a:ln w="12700">
            <a:solidFill>
              <a:srgbClr val="D9CC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23544" y="4096512"/>
            <a:ext cx="287121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8A6320"/>
                </a:solidFill>
                <a:latin typeface="DejaVu Sans"/>
              </a:rPr>
              <a:t>Şifreleme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959352" y="4005072"/>
            <a:ext cx="7370063" cy="457200"/>
          </a:xfrm>
          <a:prstGeom prst="rect">
            <a:avLst/>
          </a:prstGeom>
          <a:solidFill>
            <a:srgbClr val="EFE7EA"/>
          </a:solidFill>
          <a:ln w="12700">
            <a:solidFill>
              <a:srgbClr val="D9CC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105656" y="4096512"/>
            <a:ext cx="7114031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23181C"/>
                </a:solidFill>
                <a:latin typeface="DejaVu Sans"/>
              </a:rPr>
              <a:t>Fernet (AES-128-CBC + HMAC-SHA256)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77240" y="4498848"/>
            <a:ext cx="3127248" cy="457200"/>
          </a:xfrm>
          <a:prstGeom prst="rect">
            <a:avLst/>
          </a:prstGeom>
          <a:solidFill>
            <a:srgbClr val="F7F3F4"/>
          </a:solidFill>
          <a:ln w="12700">
            <a:solidFill>
              <a:srgbClr val="D9CC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23544" y="4590288"/>
            <a:ext cx="287121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8A6320"/>
                </a:solidFill>
                <a:latin typeface="DejaVu Sans"/>
              </a:rPr>
              <a:t>Raporlama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959352" y="4498848"/>
            <a:ext cx="7370063" cy="457200"/>
          </a:xfrm>
          <a:prstGeom prst="rect">
            <a:avLst/>
          </a:prstGeom>
          <a:solidFill>
            <a:srgbClr val="F7F3F4"/>
          </a:solidFill>
          <a:ln w="12700">
            <a:solidFill>
              <a:srgbClr val="D9CC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105656" y="4590288"/>
            <a:ext cx="7114031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23181C"/>
                </a:solidFill>
                <a:latin typeface="DejaVu Sans"/>
              </a:rPr>
              <a:t>ReportLab (PDF) · openpyxl (Excel)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77240" y="4992624"/>
            <a:ext cx="3127248" cy="457200"/>
          </a:xfrm>
          <a:prstGeom prst="rect">
            <a:avLst/>
          </a:prstGeom>
          <a:solidFill>
            <a:srgbClr val="EFE7EA"/>
          </a:solidFill>
          <a:ln w="12700">
            <a:solidFill>
              <a:srgbClr val="D9CC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23544" y="5084064"/>
            <a:ext cx="287121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8A6320"/>
                </a:solidFill>
                <a:latin typeface="DejaVu Sans"/>
              </a:rPr>
              <a:t>Yapay zekâ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959352" y="4992624"/>
            <a:ext cx="7370063" cy="457200"/>
          </a:xfrm>
          <a:prstGeom prst="rect">
            <a:avLst/>
          </a:prstGeom>
          <a:solidFill>
            <a:srgbClr val="EFE7EA"/>
          </a:solidFill>
          <a:ln w="12700">
            <a:solidFill>
              <a:srgbClr val="D9CC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105656" y="5084064"/>
            <a:ext cx="7114031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23181C"/>
                </a:solidFill>
                <a:latin typeface="DejaVu Sans"/>
              </a:rPr>
              <a:t>httpx tabanlı özel adaptör katmanı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77240" y="5486400"/>
            <a:ext cx="3127248" cy="457200"/>
          </a:xfrm>
          <a:prstGeom prst="rect">
            <a:avLst/>
          </a:prstGeom>
          <a:solidFill>
            <a:srgbClr val="F7F3F4"/>
          </a:solidFill>
          <a:ln w="12700">
            <a:solidFill>
              <a:srgbClr val="D9CC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23544" y="5577840"/>
            <a:ext cx="287121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8A6320"/>
                </a:solidFill>
                <a:latin typeface="DejaVu Sans"/>
              </a:rPr>
              <a:t>Kurulum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959352" y="5486400"/>
            <a:ext cx="7370063" cy="457200"/>
          </a:xfrm>
          <a:prstGeom prst="rect">
            <a:avLst/>
          </a:prstGeom>
          <a:solidFill>
            <a:srgbClr val="F7F3F4"/>
          </a:solidFill>
          <a:ln w="12700">
            <a:solidFill>
              <a:srgbClr val="D9CC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105656" y="5577840"/>
            <a:ext cx="7114031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23181C"/>
                </a:solidFill>
                <a:latin typeface="DejaVu Sans"/>
              </a:rPr>
              <a:t>Tek PowerShell betiği · çift tıklanan .bat dosyaları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77240" y="6327648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6B5C62"/>
                </a:solidFill>
                <a:latin typeface="DejaVu Sans"/>
              </a:rPr>
              <a:t>Wine House · Aziz Şekerdil · 2026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424160" y="6327648"/>
            <a:ext cx="9601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>
                <a:solidFill>
                  <a:srgbClr val="6B5C62"/>
                </a:solidFill>
                <a:latin typeface="DejaVu Sans"/>
              </a:rPr>
              <a:t>40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66928"/>
            <a:ext cx="106070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23181C"/>
                </a:solidFill>
                <a:latin typeface="DejaVu Sans"/>
              </a:rPr>
              <a:t>Platformlar &amp; İndirme</a:t>
            </a:r>
          </a:p>
          <a:p>
            <a:pPr algn="l">
              <a:spcAft>
                <a:spcPts val="0"/>
              </a:spcAft>
            </a:pPr>
            <a:r>
              <a:rPr sz="1400" b="0">
                <a:solidFill>
                  <a:srgbClr val="6B5C62"/>
                </a:solidFill>
                <a:latin typeface="DejaVu Sans"/>
              </a:rPr>
              <a:t>Herkese açık GitHub deposu ve hazır paketler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572768"/>
            <a:ext cx="1371600" cy="38100"/>
          </a:xfrm>
          <a:prstGeom prst="rect">
            <a:avLst/>
          </a:prstGeom>
          <a:solidFill>
            <a:srgbClr val="8A63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22960" y="2150303"/>
            <a:ext cx="76200" cy="76200"/>
          </a:xfrm>
          <a:prstGeom prst="rect">
            <a:avLst/>
          </a:prstGeom>
          <a:solidFill>
            <a:srgbClr val="8A63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70432" y="1965960"/>
            <a:ext cx="1024128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8A6320"/>
                </a:solidFill>
                <a:latin typeface="DejaVu Sans"/>
              </a:rPr>
              <a:t>Windows 10/11 (x64)</a:t>
            </a:r>
            <a:r>
              <a:rPr sz="1600" b="0">
                <a:solidFill>
                  <a:srgbClr val="23181C"/>
                </a:solidFill>
                <a:latin typeface="DejaVu Sans"/>
              </a:rPr>
              <a:t> + </a:t>
            </a:r>
            <a:r>
              <a:rPr sz="1600" b="1">
                <a:solidFill>
                  <a:srgbClr val="8A6320"/>
                </a:solidFill>
                <a:latin typeface="DejaVu Sans"/>
              </a:rPr>
              <a:t>macOS (Apple Silicon)</a:t>
            </a:r>
            <a:r>
              <a:rPr sz="1600" b="0">
                <a:solidFill>
                  <a:srgbClr val="23181C"/>
                </a:solidFill>
                <a:latin typeface="DejaVu Sans"/>
              </a:rPr>
              <a:t> — İndirme: github.com/Azizsekerdil/smart-wine-restaurant-management-system/releases (v0.1.0)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2808671"/>
            <a:ext cx="76200" cy="76200"/>
          </a:xfrm>
          <a:prstGeom prst="rect">
            <a:avLst/>
          </a:prstGeom>
          <a:solidFill>
            <a:srgbClr val="8A63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70432" y="2624328"/>
            <a:ext cx="1024128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>
                <a:solidFill>
                  <a:srgbClr val="23181C"/>
                </a:solidFill>
                <a:latin typeface="DejaVu Sans"/>
              </a:rPr>
              <a:t>GitHub deposu </a:t>
            </a:r>
            <a:r>
              <a:rPr sz="1600" b="1">
                <a:solidFill>
                  <a:srgbClr val="8A6320"/>
                </a:solidFill>
                <a:latin typeface="DejaVu Sans"/>
              </a:rPr>
              <a:t>herkese açık</a:t>
            </a:r>
            <a:r>
              <a:rPr sz="1600" b="0">
                <a:solidFill>
                  <a:srgbClr val="23181C"/>
                </a:solidFill>
                <a:latin typeface="DejaVu Sans"/>
              </a:rPr>
              <a:t>: github.com/Azizsekerdil/smart-wine-restaurant-management-system</a:t>
            </a:r>
          </a:p>
        </p:txBody>
      </p:sp>
      <p:sp>
        <p:nvSpPr>
          <p:cNvPr id="8" name="Rectangle 7"/>
          <p:cNvSpPr/>
          <p:nvPr/>
        </p:nvSpPr>
        <p:spPr>
          <a:xfrm>
            <a:off x="822960" y="3467039"/>
            <a:ext cx="76200" cy="76200"/>
          </a:xfrm>
          <a:prstGeom prst="rect">
            <a:avLst/>
          </a:prstGeom>
          <a:solidFill>
            <a:srgbClr val="8A63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70432" y="3282696"/>
            <a:ext cx="1024128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>
                <a:solidFill>
                  <a:srgbClr val="23181C"/>
                </a:solidFill>
                <a:latin typeface="DejaVu Sans"/>
              </a:rPr>
              <a:t>v0.1.0 sürümü iki paketle yayında: </a:t>
            </a:r>
            <a:r>
              <a:rPr sz="1600" b="1">
                <a:solidFill>
                  <a:srgbClr val="8A6320"/>
                </a:solidFill>
                <a:latin typeface="DejaVu Sans"/>
              </a:rPr>
              <a:t>Windows ZIP</a:t>
            </a:r>
            <a:r>
              <a:rPr sz="1600" b="0">
                <a:solidFill>
                  <a:srgbClr val="23181C"/>
                </a:solidFill>
                <a:latin typeface="DejaVu Sans"/>
              </a:rPr>
              <a:t> + </a:t>
            </a:r>
            <a:r>
              <a:rPr sz="1600" b="1">
                <a:solidFill>
                  <a:srgbClr val="8A6320"/>
                </a:solidFill>
                <a:latin typeface="DejaVu Sans"/>
              </a:rPr>
              <a:t>macOS ZIP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6327648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6B5C62"/>
                </a:solidFill>
                <a:latin typeface="DejaVu Sans"/>
              </a:rPr>
              <a:t>Wine House · Aziz Şekerdil · 2026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424160" y="6327648"/>
            <a:ext cx="9601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>
                <a:solidFill>
                  <a:srgbClr val="6B5C62"/>
                </a:solidFill>
                <a:latin typeface="DejaVu Sans"/>
              </a:rPr>
              <a:t>41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66928"/>
            <a:ext cx="106070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23181C"/>
                </a:solidFill>
                <a:latin typeface="DejaVu Sans"/>
              </a:rPr>
              <a:t>Dürüst durum bildirimi</a:t>
            </a:r>
          </a:p>
          <a:p>
            <a:pPr algn="l">
              <a:spcAft>
                <a:spcPts val="0"/>
              </a:spcAft>
            </a:pPr>
            <a:r>
              <a:rPr sz="1400" b="0">
                <a:solidFill>
                  <a:srgbClr val="6B5C62"/>
                </a:solidFill>
                <a:latin typeface="DejaVu Sans"/>
              </a:rPr>
              <a:t>Tamamlanmamış hiçbir özellik tamamlanmış gibi gösterilmez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572768"/>
            <a:ext cx="1371600" cy="38100"/>
          </a:xfrm>
          <a:prstGeom prst="rect">
            <a:avLst/>
          </a:prstGeom>
          <a:solidFill>
            <a:srgbClr val="8A63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77240" y="1965960"/>
            <a:ext cx="4919472" cy="3657600"/>
          </a:xfrm>
          <a:prstGeom prst="roundRect">
            <a:avLst>
              <a:gd name="adj" fmla="val 6000"/>
            </a:avLst>
          </a:prstGeom>
          <a:solidFill>
            <a:srgbClr val="F7F3F4"/>
          </a:solidFill>
          <a:ln w="12700">
            <a:solidFill>
              <a:srgbClr val="D9CC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77240" y="1965960"/>
            <a:ext cx="4919472" cy="50800"/>
          </a:xfrm>
          <a:prstGeom prst="rect">
            <a:avLst/>
          </a:prstGeom>
          <a:solidFill>
            <a:srgbClr val="4A1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" y="2212848"/>
            <a:ext cx="43891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4A1C2E"/>
                </a:solidFill>
                <a:latin typeface="DejaVu Sans"/>
              </a:rPr>
              <a:t>Hazır ve çalışıyor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2761488"/>
            <a:ext cx="443484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23181C"/>
                </a:solidFill>
                <a:latin typeface="DejaVu Sans"/>
              </a:rPr>
              <a:t>·  Salon operasyonu · KDS · ödeme · gün sonu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3328416"/>
            <a:ext cx="443484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23181C"/>
                </a:solidFill>
                <a:latin typeface="DejaVu Sans"/>
              </a:rPr>
              <a:t>·  Şarap kavı · kadeh servisi · verim analizi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3895344"/>
            <a:ext cx="443484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23181C"/>
                </a:solidFill>
                <a:latin typeface="DejaVu Sans"/>
              </a:rPr>
              <a:t>·  Stok · satın alma · fire · sayım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" y="4462272"/>
            <a:ext cx="443484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23181C"/>
                </a:solidFill>
                <a:latin typeface="DejaVu Sans"/>
              </a:rPr>
              <a:t>·  CRM · KVKK · personel · 13 rapor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" y="5029200"/>
            <a:ext cx="443484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23181C"/>
                </a:solidFill>
                <a:latin typeface="DejaVu Sans"/>
              </a:rPr>
              <a:t>·  Yapay zekâ katmanı · yedekleme · 19 rol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92240" y="1965960"/>
            <a:ext cx="4919472" cy="3657600"/>
          </a:xfrm>
          <a:prstGeom prst="roundRect">
            <a:avLst>
              <a:gd name="adj" fmla="val 6000"/>
            </a:avLst>
          </a:prstGeom>
          <a:solidFill>
            <a:srgbClr val="F7F3F4"/>
          </a:solidFill>
          <a:ln w="12700">
            <a:solidFill>
              <a:srgbClr val="D9CC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492240" y="1965960"/>
            <a:ext cx="4919472" cy="50800"/>
          </a:xfrm>
          <a:prstGeom prst="rect">
            <a:avLst/>
          </a:prstGeom>
          <a:solidFill>
            <a:srgbClr val="8A63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766559" y="2212848"/>
            <a:ext cx="43891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8A6320"/>
                </a:solidFill>
                <a:latin typeface="DejaVu Sans"/>
              </a:rPr>
              <a:t>Deneysel veya planlandı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66559" y="2761488"/>
            <a:ext cx="443484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23181C"/>
                </a:solidFill>
                <a:latin typeface="DejaVu Sans"/>
              </a:rPr>
              <a:t>·  Canlı ödeme ve e-Fatura (yalnızca adaptör)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66559" y="3328416"/>
            <a:ext cx="443484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23181C"/>
                </a:solidFill>
                <a:latin typeface="DejaVu Sans"/>
              </a:rPr>
              <a:t>·  Termal yazıcı sürücüsü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66559" y="3895344"/>
            <a:ext cx="443484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23181C"/>
                </a:solidFill>
                <a:latin typeface="DejaVu Sans"/>
              </a:rPr>
              <a:t>·  Toplu e-posta/SMS gönderimi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66559" y="4462272"/>
            <a:ext cx="443484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23181C"/>
                </a:solidFill>
                <a:latin typeface="DejaVu Sans"/>
              </a:rPr>
              <a:t>·  Kav sensör entegrasyonu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66559" y="5029200"/>
            <a:ext cx="443484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23181C"/>
                </a:solidFill>
                <a:latin typeface="DejaVu Sans"/>
              </a:rPr>
              <a:t>·  Etiket görsel analizi · çok terminalli senkronizasyon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" y="5779008"/>
            <a:ext cx="10607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6B5C62"/>
                </a:solidFill>
                <a:latin typeface="DejaVu Sans"/>
              </a:rPr>
              <a:t>Her özellik uygulamada rozetle işaretlenir: Hazır · Deneysel · Planlandı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" y="6327648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6B5C62"/>
                </a:solidFill>
                <a:latin typeface="DejaVu Sans"/>
              </a:rPr>
              <a:t>Wine House · Aziz Şekerdil · 2026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424160" y="6327648"/>
            <a:ext cx="9601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>
                <a:solidFill>
                  <a:srgbClr val="6B5C62"/>
                </a:solidFill>
                <a:latin typeface="DejaVu Sans"/>
              </a:rPr>
              <a:t>42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514600"/>
            <a:ext cx="12191969" cy="1828800"/>
          </a:xfrm>
          <a:prstGeom prst="rect">
            <a:avLst/>
          </a:prstGeom>
          <a:solidFill>
            <a:srgbClr val="F7F3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77240" y="2514600"/>
            <a:ext cx="63500" cy="1828800"/>
          </a:xfrm>
          <a:prstGeom prst="rect">
            <a:avLst/>
          </a:prstGeom>
          <a:solidFill>
            <a:srgbClr val="8A63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88720" y="2834640"/>
            <a:ext cx="96012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4000" b="1">
                <a:solidFill>
                  <a:srgbClr val="23181C"/>
                </a:solidFill>
                <a:latin typeface="DejaVu Sans"/>
              </a:rPr>
              <a:t>Uygulamadan Ekranlar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8720" y="3611880"/>
            <a:ext cx="96012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>
                <a:solidFill>
                  <a:srgbClr val="8A6320"/>
                </a:solidFill>
                <a:latin typeface="DejaVu Sans"/>
              </a:rPr>
              <a:t>Gerçek arayüz · sentetik demo verisi · v0.1.0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463040"/>
            <a:ext cx="3657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6B5C62"/>
                </a:solidFill>
                <a:latin typeface="DejaVu Sans"/>
              </a:rPr>
              <a:t>43 / 58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6327648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6B5C62"/>
                </a:solidFill>
                <a:latin typeface="DejaVu Sans"/>
              </a:rPr>
              <a:t>Wine House · Aziz Şekerdil ·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424160" y="6327648"/>
            <a:ext cx="9601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>
                <a:solidFill>
                  <a:srgbClr val="6B5C62"/>
                </a:solidFill>
                <a:latin typeface="DejaVu Sans"/>
              </a:rPr>
              <a:t>43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66928"/>
            <a:ext cx="106070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23181C"/>
                </a:solidFill>
                <a:latin typeface="DejaVu Sans"/>
              </a:rPr>
              <a:t>Giriş ekranı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572768"/>
            <a:ext cx="1371600" cy="38100"/>
          </a:xfrm>
          <a:prstGeom prst="rect">
            <a:avLst/>
          </a:prstGeom>
          <a:solidFill>
            <a:srgbClr val="8A63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2815437" y="1801368"/>
            <a:ext cx="6558076" cy="4133087"/>
          </a:xfrm>
          <a:prstGeom prst="roundRect">
            <a:avLst>
              <a:gd name="adj" fmla="val 6000"/>
            </a:avLst>
          </a:prstGeom>
          <a:solidFill>
            <a:srgbClr val="F7F3F4"/>
          </a:solidFill>
          <a:ln w="12700">
            <a:solidFill>
              <a:srgbClr val="D9CC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log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61157" y="1847088"/>
            <a:ext cx="6466636" cy="404164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77240" y="6016751"/>
            <a:ext cx="10607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6B5C62"/>
                </a:solidFill>
                <a:latin typeface="DejaVu Sans"/>
              </a:rPr>
              <a:t>Parola veya hızlı PIN girişi · rol tabanlı yetkilendirme 19 rolle başlar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6327648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6B5C62"/>
                </a:solidFill>
                <a:latin typeface="DejaVu Sans"/>
              </a:rPr>
              <a:t>Wine House · Aziz Şekerdil ·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424160" y="6327648"/>
            <a:ext cx="9601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>
                <a:solidFill>
                  <a:srgbClr val="6B5C62"/>
                </a:solidFill>
                <a:latin typeface="DejaVu Sans"/>
              </a:rPr>
              <a:t>44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66928"/>
            <a:ext cx="106070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23181C"/>
                </a:solidFill>
                <a:latin typeface="DejaVu Sans"/>
              </a:rPr>
              <a:t>Ana panel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572768"/>
            <a:ext cx="1371600" cy="38100"/>
          </a:xfrm>
          <a:prstGeom prst="rect">
            <a:avLst/>
          </a:prstGeom>
          <a:solidFill>
            <a:srgbClr val="8A63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2815437" y="1801368"/>
            <a:ext cx="6558076" cy="4133087"/>
          </a:xfrm>
          <a:prstGeom prst="roundRect">
            <a:avLst>
              <a:gd name="adj" fmla="val 6000"/>
            </a:avLst>
          </a:prstGeom>
          <a:solidFill>
            <a:srgbClr val="F7F3F4"/>
          </a:solidFill>
          <a:ln w="12700">
            <a:solidFill>
              <a:srgbClr val="D9CC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61157" y="1847088"/>
            <a:ext cx="6466636" cy="404164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77240" y="6016751"/>
            <a:ext cx="10607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6B5C62"/>
                </a:solidFill>
                <a:latin typeface="DejaVu Sans"/>
              </a:rPr>
              <a:t>Masa durumu, açık adisyon, rezervasyon, kav ve satış özetleri tek bakışta; deneysel özellikler açıkça rozetlenir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6327648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6B5C62"/>
                </a:solidFill>
                <a:latin typeface="DejaVu Sans"/>
              </a:rPr>
              <a:t>Wine House · Aziz Şekerdil ·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424160" y="6327648"/>
            <a:ext cx="9601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>
                <a:solidFill>
                  <a:srgbClr val="6B5C62"/>
                </a:solidFill>
                <a:latin typeface="DejaVu Sans"/>
              </a:rPr>
              <a:t>45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66928"/>
            <a:ext cx="106070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23181C"/>
                </a:solidFill>
                <a:latin typeface="DejaVu Sans"/>
              </a:rPr>
              <a:t>Masa planı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572768"/>
            <a:ext cx="1371600" cy="38100"/>
          </a:xfrm>
          <a:prstGeom prst="rect">
            <a:avLst/>
          </a:prstGeom>
          <a:solidFill>
            <a:srgbClr val="8A63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2815437" y="1801368"/>
            <a:ext cx="6558076" cy="4133087"/>
          </a:xfrm>
          <a:prstGeom prst="roundRect">
            <a:avLst>
              <a:gd name="adj" fmla="val 6000"/>
            </a:avLst>
          </a:prstGeom>
          <a:solidFill>
            <a:srgbClr val="F7F3F4"/>
          </a:solidFill>
          <a:ln w="12700">
            <a:solidFill>
              <a:srgbClr val="D9CC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masa-plani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61157" y="1847088"/>
            <a:ext cx="6466636" cy="404164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77240" y="6016751"/>
            <a:ext cx="10607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6B5C62"/>
                </a:solidFill>
                <a:latin typeface="DejaVu Sans"/>
              </a:rPr>
              <a:t>Bölüm bazlı canlı masa durumu ve açık adisyon bağlantıları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6327648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6B5C62"/>
                </a:solidFill>
                <a:latin typeface="DejaVu Sans"/>
              </a:rPr>
              <a:t>Wine House · Aziz Şekerdil ·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424160" y="6327648"/>
            <a:ext cx="9601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>
                <a:solidFill>
                  <a:srgbClr val="6B5C62"/>
                </a:solidFill>
                <a:latin typeface="DejaVu Sans"/>
              </a:rPr>
              <a:t>46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66928"/>
            <a:ext cx="106070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23181C"/>
                </a:solidFill>
                <a:latin typeface="DejaVu Sans"/>
              </a:rPr>
              <a:t>Adisyonlar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572768"/>
            <a:ext cx="1371600" cy="38100"/>
          </a:xfrm>
          <a:prstGeom prst="rect">
            <a:avLst/>
          </a:prstGeom>
          <a:solidFill>
            <a:srgbClr val="8A63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2815437" y="1801368"/>
            <a:ext cx="6558076" cy="4133087"/>
          </a:xfrm>
          <a:prstGeom prst="roundRect">
            <a:avLst>
              <a:gd name="adj" fmla="val 6000"/>
            </a:avLst>
          </a:prstGeom>
          <a:solidFill>
            <a:srgbClr val="F7F3F4"/>
          </a:solidFill>
          <a:ln w="12700">
            <a:solidFill>
              <a:srgbClr val="D9CC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adisyonla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61157" y="1847088"/>
            <a:ext cx="6466636" cy="404164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77240" y="6016751"/>
            <a:ext cx="10607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6B5C62"/>
                </a:solidFill>
                <a:latin typeface="DejaVu Sans"/>
              </a:rPr>
              <a:t>Fiyat dondurma, satır iptali, indirim/ikram ve onay akışıyla sipariş yönetimi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6327648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6B5C62"/>
                </a:solidFill>
                <a:latin typeface="DejaVu Sans"/>
              </a:rPr>
              <a:t>Wine House · Aziz Şekerdil ·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424160" y="6327648"/>
            <a:ext cx="9601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>
                <a:solidFill>
                  <a:srgbClr val="6B5C62"/>
                </a:solidFill>
                <a:latin typeface="DejaVu Sans"/>
              </a:rPr>
              <a:t>47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66928"/>
            <a:ext cx="106070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23181C"/>
                </a:solidFill>
                <a:latin typeface="DejaVu Sans"/>
              </a:rPr>
              <a:t>Rezervasyonlar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572768"/>
            <a:ext cx="1371600" cy="38100"/>
          </a:xfrm>
          <a:prstGeom prst="rect">
            <a:avLst/>
          </a:prstGeom>
          <a:solidFill>
            <a:srgbClr val="8A63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2815437" y="1801368"/>
            <a:ext cx="6558076" cy="4133087"/>
          </a:xfrm>
          <a:prstGeom prst="roundRect">
            <a:avLst>
              <a:gd name="adj" fmla="val 6000"/>
            </a:avLst>
          </a:prstGeom>
          <a:solidFill>
            <a:srgbClr val="F7F3F4"/>
          </a:solidFill>
          <a:ln w="12700">
            <a:solidFill>
              <a:srgbClr val="D9CC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rezervasyonla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61157" y="1847088"/>
            <a:ext cx="6466636" cy="404164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77240" y="6016751"/>
            <a:ext cx="10607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6B5C62"/>
                </a:solidFill>
                <a:latin typeface="DejaVu Sans"/>
              </a:rPr>
              <a:t>Çakışma denetimi, kapasite kontrolü ve bekleme listesi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6327648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6B5C62"/>
                </a:solidFill>
                <a:latin typeface="DejaVu Sans"/>
              </a:rPr>
              <a:t>Wine House · Aziz Şekerdil ·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424160" y="6327648"/>
            <a:ext cx="9601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>
                <a:solidFill>
                  <a:srgbClr val="6B5C62"/>
                </a:solidFill>
                <a:latin typeface="DejaVu Sans"/>
              </a:rPr>
              <a:t>48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66928"/>
            <a:ext cx="106070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23181C"/>
                </a:solidFill>
                <a:latin typeface="DejaVu Sans"/>
              </a:rPr>
              <a:t>Mutfak ekranı (KDS)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572768"/>
            <a:ext cx="1371600" cy="38100"/>
          </a:xfrm>
          <a:prstGeom prst="rect">
            <a:avLst/>
          </a:prstGeom>
          <a:solidFill>
            <a:srgbClr val="8A63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2815437" y="1801368"/>
            <a:ext cx="6558076" cy="4133087"/>
          </a:xfrm>
          <a:prstGeom prst="roundRect">
            <a:avLst>
              <a:gd name="adj" fmla="val 6000"/>
            </a:avLst>
          </a:prstGeom>
          <a:solidFill>
            <a:srgbClr val="F7F3F4"/>
          </a:solidFill>
          <a:ln w="12700">
            <a:solidFill>
              <a:srgbClr val="D9CC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kds-mutfa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61157" y="1847088"/>
            <a:ext cx="6466636" cy="404164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77240" y="6016751"/>
            <a:ext cx="10607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6B5C62"/>
                </a:solidFill>
                <a:latin typeface="DejaVu Sans"/>
              </a:rPr>
              <a:t>İstasyon ayrımı, fiş ilerletme, gecikme uyarısı ve alerjen gösterimi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6327648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6B5C62"/>
                </a:solidFill>
                <a:latin typeface="DejaVu Sans"/>
              </a:rPr>
              <a:t>Wine House · Aziz Şekerdil ·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424160" y="6327648"/>
            <a:ext cx="9601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>
                <a:solidFill>
                  <a:srgbClr val="6B5C62"/>
                </a:solidFill>
                <a:latin typeface="DejaVu Sans"/>
              </a:rPr>
              <a:t>49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66928"/>
            <a:ext cx="106070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23181C"/>
                </a:solidFill>
                <a:latin typeface="DejaVu Sans"/>
              </a:rPr>
              <a:t>Şarap kavı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572768"/>
            <a:ext cx="1371600" cy="38100"/>
          </a:xfrm>
          <a:prstGeom prst="rect">
            <a:avLst/>
          </a:prstGeom>
          <a:solidFill>
            <a:srgbClr val="8A63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2815437" y="1801368"/>
            <a:ext cx="6558076" cy="4133087"/>
          </a:xfrm>
          <a:prstGeom prst="roundRect">
            <a:avLst>
              <a:gd name="adj" fmla="val 6000"/>
            </a:avLst>
          </a:prstGeom>
          <a:solidFill>
            <a:srgbClr val="F7F3F4"/>
          </a:solidFill>
          <a:ln w="12700">
            <a:solidFill>
              <a:srgbClr val="D9CC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sarap-kavi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61157" y="1847088"/>
            <a:ext cx="6466636" cy="404164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77240" y="6016751"/>
            <a:ext cx="10607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6B5C62"/>
                </a:solidFill>
                <a:latin typeface="DejaVu Sans"/>
              </a:rPr>
              <a:t>Şişe/kadeh stoğu, içim aralığı ve fiyatlandırma; sorumlu servis uyarısı her listede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6327648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6B5C62"/>
                </a:solidFill>
                <a:latin typeface="DejaVu Sans"/>
              </a:rPr>
              <a:t>Wine House · Aziz Şekerdil ·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424160" y="6327648"/>
            <a:ext cx="9601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>
                <a:solidFill>
                  <a:srgbClr val="6B5C62"/>
                </a:solidFill>
                <a:latin typeface="DejaVu Sans"/>
              </a:rPr>
              <a:t>50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66928"/>
            <a:ext cx="106070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23181C"/>
                </a:solidFill>
                <a:latin typeface="DejaVu Sans"/>
              </a:rPr>
              <a:t>Kav değerlemesi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572768"/>
            <a:ext cx="1371600" cy="38100"/>
          </a:xfrm>
          <a:prstGeom prst="rect">
            <a:avLst/>
          </a:prstGeom>
          <a:solidFill>
            <a:srgbClr val="8A63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2815437" y="1801368"/>
            <a:ext cx="6558076" cy="4133087"/>
          </a:xfrm>
          <a:prstGeom prst="roundRect">
            <a:avLst>
              <a:gd name="adj" fmla="val 6000"/>
            </a:avLst>
          </a:prstGeom>
          <a:solidFill>
            <a:srgbClr val="F7F3F4"/>
          </a:solidFill>
          <a:ln w="12700">
            <a:solidFill>
              <a:srgbClr val="D9CC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kav-degerlem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61157" y="1847088"/>
            <a:ext cx="6466636" cy="404164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77240" y="6016751"/>
            <a:ext cx="10607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6B5C62"/>
                </a:solidFill>
                <a:latin typeface="DejaVu Sans"/>
              </a:rPr>
              <a:t>Maliyet ve satış değeri üzerinden kavın anlık finansal görünümü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6327648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6B5C62"/>
                </a:solidFill>
                <a:latin typeface="DejaVu Sans"/>
              </a:rPr>
              <a:t>Wine House · Aziz Şekerdil ·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424160" y="6327648"/>
            <a:ext cx="9601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>
                <a:solidFill>
                  <a:srgbClr val="6B5C62"/>
                </a:solidFill>
                <a:latin typeface="DejaVu Sans"/>
              </a:rPr>
              <a:t>51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66928"/>
            <a:ext cx="106070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23181C"/>
                </a:solidFill>
                <a:latin typeface="DejaVu Sans"/>
              </a:rPr>
              <a:t>Menü ve reçete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572768"/>
            <a:ext cx="1371600" cy="38100"/>
          </a:xfrm>
          <a:prstGeom prst="rect">
            <a:avLst/>
          </a:prstGeom>
          <a:solidFill>
            <a:srgbClr val="8A63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2815437" y="1801368"/>
            <a:ext cx="6558076" cy="4133087"/>
          </a:xfrm>
          <a:prstGeom prst="roundRect">
            <a:avLst>
              <a:gd name="adj" fmla="val 6000"/>
            </a:avLst>
          </a:prstGeom>
          <a:solidFill>
            <a:srgbClr val="F7F3F4"/>
          </a:solidFill>
          <a:ln w="12700">
            <a:solidFill>
              <a:srgbClr val="D9CC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menu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61157" y="1847088"/>
            <a:ext cx="6466636" cy="404164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77240" y="6016751"/>
            <a:ext cx="10607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6B5C62"/>
                </a:solidFill>
                <a:latin typeface="DejaVu Sans"/>
              </a:rPr>
              <a:t>Porsiyon maliyeti, alerjen ve beslenme etiketiyle menü yönetimi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6327648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6B5C62"/>
                </a:solidFill>
                <a:latin typeface="DejaVu Sans"/>
              </a:rPr>
              <a:t>Wine House · Aziz Şekerdil ·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424160" y="6327648"/>
            <a:ext cx="9601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>
                <a:solidFill>
                  <a:srgbClr val="6B5C62"/>
                </a:solidFill>
                <a:latin typeface="DejaVu Sans"/>
              </a:rPr>
              <a:t>52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66928"/>
            <a:ext cx="106070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23181C"/>
                </a:solidFill>
                <a:latin typeface="DejaVu Sans"/>
              </a:rPr>
              <a:t>Stok ve satın alma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572768"/>
            <a:ext cx="1371600" cy="38100"/>
          </a:xfrm>
          <a:prstGeom prst="rect">
            <a:avLst/>
          </a:prstGeom>
          <a:solidFill>
            <a:srgbClr val="8A63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2815437" y="1801368"/>
            <a:ext cx="6558076" cy="4133087"/>
          </a:xfrm>
          <a:prstGeom prst="roundRect">
            <a:avLst>
              <a:gd name="adj" fmla="val 6000"/>
            </a:avLst>
          </a:prstGeom>
          <a:solidFill>
            <a:srgbClr val="F7F3F4"/>
          </a:solidFill>
          <a:ln w="12700">
            <a:solidFill>
              <a:srgbClr val="D9CC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sto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61157" y="1847088"/>
            <a:ext cx="6466636" cy="404164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77240" y="6016751"/>
            <a:ext cx="10607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6B5C62"/>
                </a:solidFill>
                <a:latin typeface="DejaVu Sans"/>
              </a:rPr>
              <a:t>FIFO/FEFO parti takibi, mal kabul, sayım ve fire akışları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6327648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6B5C62"/>
                </a:solidFill>
                <a:latin typeface="DejaVu Sans"/>
              </a:rPr>
              <a:t>Wine House · Aziz Şekerdil ·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424160" y="6327648"/>
            <a:ext cx="9601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>
                <a:solidFill>
                  <a:srgbClr val="6B5C62"/>
                </a:solidFill>
                <a:latin typeface="DejaVu Sans"/>
              </a:rPr>
              <a:t>53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66928"/>
            <a:ext cx="106070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23181C"/>
                </a:solidFill>
                <a:latin typeface="DejaVu Sans"/>
              </a:rPr>
              <a:t>Müşteri ilişkileri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572768"/>
            <a:ext cx="1371600" cy="38100"/>
          </a:xfrm>
          <a:prstGeom prst="rect">
            <a:avLst/>
          </a:prstGeom>
          <a:solidFill>
            <a:srgbClr val="8A63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2815437" y="1801368"/>
            <a:ext cx="6558076" cy="4133087"/>
          </a:xfrm>
          <a:prstGeom prst="roundRect">
            <a:avLst>
              <a:gd name="adj" fmla="val 6000"/>
            </a:avLst>
          </a:prstGeom>
          <a:solidFill>
            <a:srgbClr val="F7F3F4"/>
          </a:solidFill>
          <a:ln w="12700">
            <a:solidFill>
              <a:srgbClr val="D9CC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cr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61157" y="1847088"/>
            <a:ext cx="6466636" cy="404164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77240" y="6016751"/>
            <a:ext cx="10607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6B5C62"/>
                </a:solidFill>
                <a:latin typeface="DejaVu Sans"/>
              </a:rPr>
              <a:t>Rıza yönetimi, dışa aktarım, anonimleştirme ve sadakat — KVKK akışları yerleşik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6327648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6B5C62"/>
                </a:solidFill>
                <a:latin typeface="DejaVu Sans"/>
              </a:rPr>
              <a:t>Wine House · Aziz Şekerdil ·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424160" y="6327648"/>
            <a:ext cx="9601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>
                <a:solidFill>
                  <a:srgbClr val="6B5C62"/>
                </a:solidFill>
                <a:latin typeface="DejaVu Sans"/>
              </a:rPr>
              <a:t>54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66928"/>
            <a:ext cx="106070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23181C"/>
                </a:solidFill>
                <a:latin typeface="DejaVu Sans"/>
              </a:rPr>
              <a:t>Raporlar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572768"/>
            <a:ext cx="1371600" cy="38100"/>
          </a:xfrm>
          <a:prstGeom prst="rect">
            <a:avLst/>
          </a:prstGeom>
          <a:solidFill>
            <a:srgbClr val="8A63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2815437" y="1801368"/>
            <a:ext cx="6558076" cy="4133087"/>
          </a:xfrm>
          <a:prstGeom prst="roundRect">
            <a:avLst>
              <a:gd name="adj" fmla="val 6000"/>
            </a:avLst>
          </a:prstGeom>
          <a:solidFill>
            <a:srgbClr val="F7F3F4"/>
          </a:solidFill>
          <a:ln w="12700">
            <a:solidFill>
              <a:srgbClr val="D9CC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raporla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61157" y="1847088"/>
            <a:ext cx="6466636" cy="404164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77240" y="6016751"/>
            <a:ext cx="10607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6B5C62"/>
                </a:solidFill>
                <a:latin typeface="DejaVu Sans"/>
              </a:rPr>
              <a:t>13 hazır rapor · PDF, Excel ve CSV dışa aktarım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6327648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6B5C62"/>
                </a:solidFill>
                <a:latin typeface="DejaVu Sans"/>
              </a:rPr>
              <a:t>Wine House · Aziz Şekerdil ·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424160" y="6327648"/>
            <a:ext cx="9601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>
                <a:solidFill>
                  <a:srgbClr val="6B5C62"/>
                </a:solidFill>
                <a:latin typeface="DejaVu Sans"/>
              </a:rPr>
              <a:t>55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66928"/>
            <a:ext cx="106070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23181C"/>
                </a:solidFill>
                <a:latin typeface="DejaVu Sans"/>
              </a:rPr>
              <a:t>Yapay zekâ asistanı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572768"/>
            <a:ext cx="1371600" cy="38100"/>
          </a:xfrm>
          <a:prstGeom prst="rect">
            <a:avLst/>
          </a:prstGeom>
          <a:solidFill>
            <a:srgbClr val="8A63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2815437" y="1801368"/>
            <a:ext cx="6558076" cy="4133087"/>
          </a:xfrm>
          <a:prstGeom prst="roundRect">
            <a:avLst>
              <a:gd name="adj" fmla="val 6000"/>
            </a:avLst>
          </a:prstGeom>
          <a:solidFill>
            <a:srgbClr val="F7F3F4"/>
          </a:solidFill>
          <a:ln w="12700">
            <a:solidFill>
              <a:srgbClr val="D9CC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yapay-zek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61157" y="1847088"/>
            <a:ext cx="6466636" cy="404164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77240" y="6016751"/>
            <a:ext cx="10607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6B5C62"/>
                </a:solidFill>
                <a:latin typeface="DejaVu Sans"/>
              </a:rPr>
              <a:t>Yerel öncelikli sağlayıcılar, maskeleme ve bütçe denetimi; öneri üretir, karar vermez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6327648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6B5C62"/>
                </a:solidFill>
                <a:latin typeface="DejaVu Sans"/>
              </a:rPr>
              <a:t>Wine House · Aziz Şekerdil ·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424160" y="6327648"/>
            <a:ext cx="9601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>
                <a:solidFill>
                  <a:srgbClr val="6B5C62"/>
                </a:solidFill>
                <a:latin typeface="DejaVu Sans"/>
              </a:rPr>
              <a:t>56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66928"/>
            <a:ext cx="106070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23181C"/>
                </a:solidFill>
                <a:latin typeface="DejaVu Sans"/>
              </a:rPr>
              <a:t>Eğitim merkezi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572768"/>
            <a:ext cx="1371600" cy="38100"/>
          </a:xfrm>
          <a:prstGeom prst="rect">
            <a:avLst/>
          </a:prstGeom>
          <a:solidFill>
            <a:srgbClr val="8A63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2815437" y="1801368"/>
            <a:ext cx="6558076" cy="4133087"/>
          </a:xfrm>
          <a:prstGeom prst="roundRect">
            <a:avLst>
              <a:gd name="adj" fmla="val 6000"/>
            </a:avLst>
          </a:prstGeom>
          <a:solidFill>
            <a:srgbClr val="F7F3F4"/>
          </a:solidFill>
          <a:ln w="12700">
            <a:solidFill>
              <a:srgbClr val="D9CC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egiti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61157" y="1847088"/>
            <a:ext cx="6466636" cy="404164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77240" y="6016751"/>
            <a:ext cx="10607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6B5C62"/>
                </a:solidFill>
                <a:latin typeface="DejaVu Sans"/>
              </a:rPr>
              <a:t>Rol bazlı modül ve ders yapısıyla personel eğitimi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6327648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6B5C62"/>
                </a:solidFill>
                <a:latin typeface="DejaVu Sans"/>
              </a:rPr>
              <a:t>Wine House · Aziz Şekerdil ·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424160" y="6327648"/>
            <a:ext cx="9601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>
                <a:solidFill>
                  <a:srgbClr val="6B5C62"/>
                </a:solidFill>
                <a:latin typeface="DejaVu Sans"/>
              </a:rPr>
              <a:t>57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8A63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223760" y="-1097280"/>
            <a:ext cx="6400800" cy="9144000"/>
          </a:xfrm>
          <a:prstGeom prst="rect">
            <a:avLst/>
          </a:prstGeom>
          <a:solidFill>
            <a:srgbClr val="EFE7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1965960"/>
            <a:ext cx="658368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6000" b="1">
                <a:solidFill>
                  <a:srgbClr val="8A6320"/>
                </a:solidFill>
                <a:latin typeface="DejaVu Sans"/>
              </a:rPr>
              <a:t>Wine House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3154680"/>
            <a:ext cx="64008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100" b="0">
                <a:solidFill>
                  <a:srgbClr val="23181C"/>
                </a:solidFill>
                <a:latin typeface="DejaVu Sans"/>
              </a:rPr>
              <a:t>Akıllı Şarap Restoranı Yönetim Sistemi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818120" y="1920240"/>
            <a:ext cx="3749039" cy="3108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100"/>
              </a:spcAft>
            </a:pPr>
            <a:r>
              <a:rPr sz="1250" b="0">
                <a:solidFill>
                  <a:srgbClr val="23181C"/>
                </a:solidFill>
                <a:latin typeface="DejaVu Sans"/>
              </a:rPr>
              <a:t>◆  Yerel çalışır · çevrimdışı dayanıklıdır</a:t>
            </a:r>
          </a:p>
          <a:p>
            <a:pPr algn="l">
              <a:spcAft>
                <a:spcPts val="1100"/>
              </a:spcAft>
            </a:pPr>
            <a:r>
              <a:rPr sz="1250" b="0">
                <a:solidFill>
                  <a:srgbClr val="23181C"/>
                </a:solidFill>
                <a:latin typeface="DejaVu Sans"/>
              </a:rPr>
              <a:t>◆  Mali kayıtları dondurur, denetim izi bırakır</a:t>
            </a:r>
          </a:p>
          <a:p>
            <a:pPr algn="l">
              <a:spcAft>
                <a:spcPts val="1100"/>
              </a:spcAft>
            </a:pPr>
            <a:r>
              <a:rPr sz="1250" b="0">
                <a:solidFill>
                  <a:srgbClr val="23181C"/>
                </a:solidFill>
                <a:latin typeface="DejaVu Sans"/>
              </a:rPr>
              <a:t>◆  Kadeh satışını stoktan doğru düşer</a:t>
            </a:r>
          </a:p>
          <a:p>
            <a:pPr algn="l">
              <a:spcAft>
                <a:spcPts val="1100"/>
              </a:spcAft>
            </a:pPr>
            <a:r>
              <a:rPr sz="1250" b="0">
                <a:solidFill>
                  <a:srgbClr val="23181C"/>
                </a:solidFill>
                <a:latin typeface="DejaVu Sans"/>
              </a:rPr>
              <a:t>◆  Yapay zekâyı yardımcı yapar, yetkili değil</a:t>
            </a:r>
          </a:p>
          <a:p>
            <a:pPr algn="l">
              <a:spcAft>
                <a:spcPts val="1100"/>
              </a:spcAft>
            </a:pPr>
            <a:r>
              <a:rPr sz="1250" b="0">
                <a:solidFill>
                  <a:srgbClr val="23181C"/>
                </a:solidFill>
                <a:latin typeface="DejaVu Sans"/>
              </a:rPr>
              <a:t>◆  Kişisel veriyi şifreler ve maskeler</a:t>
            </a:r>
          </a:p>
        </p:txBody>
      </p:sp>
      <p:sp>
        <p:nvSpPr>
          <p:cNvPr id="7" name="Rectangle 6"/>
          <p:cNvSpPr/>
          <p:nvPr/>
        </p:nvSpPr>
        <p:spPr>
          <a:xfrm>
            <a:off x="1005840" y="4709160"/>
            <a:ext cx="2011680" cy="38100"/>
          </a:xfrm>
          <a:prstGeom prst="rect">
            <a:avLst/>
          </a:prstGeom>
          <a:solidFill>
            <a:srgbClr val="8A63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4983480"/>
            <a:ext cx="6400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6B5C62"/>
                </a:solidFill>
                <a:latin typeface="DejaVu Sans"/>
              </a:rPr>
              <a:t>Sürüm 0.1.0 ·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6327648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6B5C62"/>
                </a:solidFill>
                <a:latin typeface="DejaVu Sans"/>
              </a:rPr>
              <a:t>Wine House · Aziz Şekerdil · 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424160" y="6327648"/>
            <a:ext cx="9601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>
                <a:solidFill>
                  <a:srgbClr val="6B5C62"/>
                </a:solidFill>
                <a:latin typeface="DejaVu Sans"/>
              </a:rPr>
              <a:t>58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Wine House — Tanıtım</dc:title>
  <dc:subject>Akıllı Şarap Restoranı Yönetim Sistemi</dc:subject>
  <dc:creator>Aziz Şekerdil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