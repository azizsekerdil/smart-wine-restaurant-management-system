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C8A45C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F2EAEC"/>
                </a:solidFill>
                <a:latin typeface="DejaVu Sans"/>
              </a:rPr>
              <a:t>Smart Wine Restaurant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B9A7AE"/>
                </a:solidFill>
                <a:latin typeface="DejaVu Sans"/>
              </a:rPr>
              <a:t>Runs locally · offline-resilient · role-based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9A7AE"/>
                </a:solidFill>
                <a:latin typeface="DejaVu Sans"/>
              </a:rPr>
              <a:t>Version 0.1.0 · Introduction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At a glance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Measured, tested, working software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16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Django apps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42900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4845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database tables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8075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80759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021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user roles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732519" y="201168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32519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51976" y="219456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built-in reports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6695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automated tests · all passing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2900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73%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line coverage (all code)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08075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080759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021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known runtime vulnerabilities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732519" y="3703320"/>
            <a:ext cx="2450591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732519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951976" y="3886200"/>
            <a:ext cx="2084831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29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runtime dependencies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Why is a wine restaurant different?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What generic POS software cannot solve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Wine sells in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two units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bottle and glass — but stock is held in one.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An opened bottle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starts to deteriorate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; when it was opened and how it is preserved matters.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The gap between expected and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actual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glasses per bottle is direct lost profit.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Wine has a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drink window</a:t>
            </a:r>
            <a:r>
              <a:rPr sz="1600" b="0">
                <a:solidFill>
                  <a:srgbClr val="F2EAEC"/>
                </a:solidFill>
                <a:latin typeface="DejaVu Sans"/>
              </a:rPr>
              <a:t>; a bottle not sold in time loses value.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 few degrees of cellar temperature drift can damage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thousands in inventory</a:t>
            </a:r>
            <a:r>
              <a:rPr sz="1600" b="0">
                <a:solidFill>
                  <a:srgbClr val="F2EAEC"/>
                </a:solidFill>
                <a:latin typeface="DejaVu Sans"/>
              </a:rPr>
              <a:t>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 sommelier's recommendation must be limited to what is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actually in stock</a:t>
            </a:r>
            <a:r>
              <a:rPr sz="1600" b="0">
                <a:solidFill>
                  <a:srgbClr val="F2EAEC"/>
                </a:solidFill>
                <a:latin typeface="DejaVu Sans"/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What does Wine House do?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One application, one database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Floor operations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table map, reservations, orders, kitchen display, payment, day close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Digital wine cellar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identity, layout, lot tracking, by-the-glass service, yield analysis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Menu and costing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recipes, portion cost, allergens, dynamic pricing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Inventory and purchasing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FIFO/FEFO, expiry, waste, suppliers, quotation comparison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Customers and staff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GDPR-compliant CRM, loyalty, shifts, performance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Reporting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13 reports, PDF / Excel / CSV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Artificial intelligence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— sommelier assistant, provider-agnostic, privacy-preserving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Design principles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Every decision has a rationale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52251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26633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Principle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52251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26633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What it means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89058"/>
            <a:ext cx="3127248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9356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Local-first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89058"/>
            <a:ext cx="7370063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9356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The restaurant keeps working when the internet drops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148148"/>
            <a:ext cx="3127248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5265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AI is optional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148148"/>
            <a:ext cx="7370063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25265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All core functions work fully with AI disabled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707238"/>
            <a:ext cx="3127248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81174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Financial records are frozen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707238"/>
            <a:ext cx="7370063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81174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Changing a menu price never alters a past bill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266329"/>
            <a:ext cx="3127248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370831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Trace instead of delete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266329"/>
            <a:ext cx="7370063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370831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Corrections use reversing entries; the audit trail survives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825419"/>
            <a:ext cx="3127248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92992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Safe by default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825419"/>
            <a:ext cx="7370063" cy="52251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92992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Dangerous features ship switched off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5384509"/>
            <a:ext cx="3127248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489012"/>
            <a:ext cx="2871216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Least privilege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5384509"/>
            <a:ext cx="7370063" cy="52251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489012"/>
            <a:ext cx="7114031" cy="52251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Each user sees only their own job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Floor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From table to till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6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Table map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whole floor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Section-based layout: main room, terrace, bar, cellar room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Eight table states coded by colour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and text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readable in low light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Open order number and current total shown on the table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Click a table to jump straight to its order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44-pixel touch targets for POS terminals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Reservation conflict detection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same table cannot be double-booked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Create reservation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Assign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Do the time windows overlap?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Is capacity sufficient?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Accept or reject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On conflict the system refuses the assignment and names the clashing reservation.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Orders: why freeze the price?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foundation of financial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If it were not frozen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The menu price changes today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Yesterday's bill total changes too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Accounts no longer reconcile with the till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 historical report returns different numbers each run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In Wine House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Price, tax, cost and item name are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copied</a:t>
            </a:r>
            <a:r>
              <a:rPr sz="1250" b="0">
                <a:solidFill>
                  <a:srgbClr val="F2EAEC"/>
                </a:solidFill>
                <a:latin typeface="DejaVu Sans"/>
              </a:rPr>
              <a:t> at line creation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Later menu changes never touch a past bill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 report run a year later returns the same result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Day-close totals are frozen a second 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Kitchen order tickets and displays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KOT generation and KDS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Sending an order produces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one ticket per station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Food to the kitchen, drinks to the bar, wine to the sommelier — automatically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Ticket colour follows elapsed time: grey → amber →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red (overdue)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Allergen warnings appear as a red line on the ticket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Ticket flow: Queued → Preparing → Ready → Served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 sent line is never sent twice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Bill splitting and payment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Seat-based splitting, multi-method payment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Automatic split by seat number — each seat becomes its own order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Order merging: when two tables join, so do their bills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Cash, card, meal card, transfer, voucher, loyalty points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Partial payments supported; the outstanding balance is always visible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Card commission is calculated automatically and reported net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Sandbox mode: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no real money moves in this release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Day close and cash reconciliation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Closed once, then frozen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The day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cannot close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while orders are open — no missing bill slips through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Expected cash is compared with counted cash and the variance shown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Payment-method breakdown, voids and refunds are computed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All totals are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frozen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into a daily snapshot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Reports read from that snapshot — history never shifts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Digital Wine Cellar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The distinguishing 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13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Wine identity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Everything a sommelier wants to know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Producer, vineyard, country → region → appellation hierarchy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Grape composition with percentages — 60% Öküzgözü, 40% Boğazkere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Vintage, alcohol, bottle size, sulphite and vegan information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Tasting profile: body · acidity · tannin · sweetness (0–5 scale)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Aroma notes, serving temperature, decanting time, glass type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Drink window: from · peak · until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Barcode, internal QR code, label photograph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Cellar layout and storage conditions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physical reality of inventory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Hierarchical layout: cellar → cabinet → rack → bin → display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Target temperature, humidity and tolerance per location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Readings are recorded; out-of-range drift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raises an alert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Occupancy rate and bottles stored are shown live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Private-cellar clients' bottles are kept separate and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excluded from house valuation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Lot tracking and FEFO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Which bottle should leave first?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Every purchase lot is tracked separately: receipt date, unit cost, supplier, location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FEFO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the lot that must be consumed first is opened first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Lot-level cost is the basis of accurate profitability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Invoice reference and supplier linkage are preserved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Remaining bottles can never exceed received bottles (database constraint)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How a glass leaves stock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system's finest business rule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148840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27632" y="2148840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74519" y="2350008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Pour a glass (150 ml)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044952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227832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627632" y="3044952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874519" y="3246120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Is there an open bottle with enough volume?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941064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4123944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627632" y="3941064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74519" y="4142232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If not: pick lot by FEFO → deduct 1 bottle from stock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4837176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20056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27632" y="4837176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74519" y="5038344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Reduce the open bottle by 150 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5733288"/>
            <a:ext cx="749808" cy="749808"/>
          </a:xfrm>
          <a:prstGeom prst="roundRect">
            <a:avLst>
              <a:gd name="adj" fmla="val 6000"/>
            </a:avLst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916168"/>
            <a:ext cx="74980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0"/>
              </a:spcAft>
            </a:pPr>
            <a:r>
              <a:rPr sz="2000" b="1">
                <a:solidFill>
                  <a:srgbClr val="1A0E14"/>
                </a:solidFill>
                <a:latin typeface="DejaVu Sans"/>
              </a:rPr>
              <a:t>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627632" y="5733288"/>
            <a:ext cx="9738360" cy="749808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74519" y="5934455"/>
            <a:ext cx="923544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F2EAEC"/>
                </a:solidFill>
                <a:latin typeface="DejaVu Sans"/>
              </a:rPr>
              <a:t>Write the pour record (sale / tasting / comp / spillage)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60720"/>
            <a:ext cx="106070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When less than half a glass remains, the bottle is marked finished automatically. Two waiters cannot open the last bottle simultaneously — row locking prevents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Yield analysis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750 ml bottle · 150 ml pour · 5 glasses in theory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5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expected glasses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actual glasses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600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served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80%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realised yield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150 ml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lost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1 glass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missed revenue · per bottle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The gap between theoretical and actual points to spillage or over-pouring. The glass-vs-bottle report shows this bottle by bottle.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Open bottles and fault tracking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Where is the loss occurring?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Freshness window by method: standard 48 h · preservation 1 week · needle system 30 days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Bottles past their window are flagged on screen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Fault records: cork taint (TCA), oxidation, reduction, heat damage, spillage, breakage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Each fault deducts stock and computes the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estimated loss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Resolution is tracked: supplier claim · written off · replaced for the guest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Drink window and cellar valuation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Inventory is an asset that changes over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Each wine gets a status: too young · ready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at peak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· drink soon · past peak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Bottles approaching the end of their window move to a priority list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Cellar valuation: cost value, retail value, potential 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Remaining volume in open bottles counts towards valuation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Wines below their minimum bottle count raise a critical-stock alert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Duplicate and anomaly detection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Data quality does not maintain itself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The same barcode used on two different records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Same producer + very similar name + same vintage (fuzzy match)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Implausible vintage — a future year or more than 120 years old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Price anomaly — selling price below purchase price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The system never deletes or merges anything on its own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it only raises a review flag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Menu, Inventory and Costing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The arithmetic of profit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22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Recipes and portion costing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real cost of every 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Recipe lines link to stock items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Portion cost is derived from the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weighted average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unit cost of stock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 waste allowance percentage is added to the cost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Gross margin, margin percentage and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food-cost ratio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are automatic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Allergen and dietary tags (vegetarian, vegan, gluten-free) attach to items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Dynamic pricing: happy hour, campaigns, windows that cross midnight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Menu engineering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What stays, what changes?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278684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Quadrant</a:t>
            </a:r>
          </a:p>
        </p:txBody>
      </p:sp>
      <p:sp>
        <p:nvSpPr>
          <p:cNvPr id="6" name="Rectangle 5"/>
          <p:cNvSpPr/>
          <p:nvPr/>
        </p:nvSpPr>
        <p:spPr>
          <a:xfrm>
            <a:off x="3110788" y="2011680"/>
            <a:ext cx="1854403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57092" y="2144450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Popularity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0056" y="2011680"/>
            <a:ext cx="1642262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66360" y="2144450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Margin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17182" y="2011680"/>
            <a:ext cx="4612233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63486" y="2144450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Action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2670048"/>
            <a:ext cx="2278684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79074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10788" y="2670048"/>
            <a:ext cx="185440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57092" y="279074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High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0056" y="2670048"/>
            <a:ext cx="1642262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66360" y="279074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High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17182" y="2670048"/>
            <a:ext cx="461223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63486" y="279074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Protect and promote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310128"/>
            <a:ext cx="2278684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43082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Plowhorse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110788" y="3310128"/>
            <a:ext cx="185440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57092" y="343082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High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0056" y="3310128"/>
            <a:ext cx="1642262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66360" y="343082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717182" y="3310128"/>
            <a:ext cx="461223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63486" y="343082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Reduce cost or revisit price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950208"/>
            <a:ext cx="2278684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07090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Puzzle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110788" y="3950208"/>
            <a:ext cx="185440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57092" y="407090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Low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0056" y="3950208"/>
            <a:ext cx="1642262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166360" y="407090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High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17182" y="3950208"/>
            <a:ext cx="4612233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63486" y="407090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Promote; add to sommelier picks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4590288"/>
            <a:ext cx="2278684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" y="4710988"/>
            <a:ext cx="2022652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Dog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10788" y="4590288"/>
            <a:ext cx="185440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257092" y="4710988"/>
            <a:ext cx="159837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Low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0056" y="4590288"/>
            <a:ext cx="1642262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66360" y="4710988"/>
            <a:ext cx="138623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Low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717182" y="4590288"/>
            <a:ext cx="4612233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863486" y="4710988"/>
            <a:ext cx="4356201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Consider removing from the menu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7240" y="536752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Kasavana-Smith method · computed automatically from sales data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Inventory, purchasing and waste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Full traceability from receipt to issue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FIFO or FEFO — chosen per item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Alerts for lots approaching their expiry date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Goods receipt: partial rejection, cold-chain check, automatic lot creation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Stock counts: system versus counted, variance posted as a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movement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Waste records with 11 reasons: spoilage, expiry, breakage, spillage, staff meals…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Reorder suggestions from minimum levels —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the system suggests, never orders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Quotation comparison: cheapest and fastest flagged separately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Stock movements are immutable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balance is always verifiable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Every receipt and issue creates its own movement record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Once written it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cannot be updated or deleted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enforced in code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Corrections are made with a reversing movement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Stock balance can always be reconciled against the sum of movements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The same immutability applies to loyalty points and the audit 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Customers, Staff and Reports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27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GDPR-compliant customer management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Data protection is not an afterthought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Phone, email and identity data are stored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encrypted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Search over encrypted fields uses an irreversible HMAC digest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1">
                <a:solidFill>
                  <a:srgbClr val="C8A45C"/>
                </a:solidFill>
                <a:latin typeface="DejaVu Sans"/>
              </a:rPr>
              <a:t>Separate consent per purpose</a:t>
            </a:r>
            <a:r>
              <a:rPr sz="1450" b="0">
                <a:solidFill>
                  <a:srgbClr val="F2EAEC"/>
                </a:solidFill>
                <a:latin typeface="DejaVu Sans"/>
              </a:rPr>
              <a:t>: service, email, SMS, profiling, AI processing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Withdrawing consent does not delete the record — a withdrawal timestamp is written for proof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Data portability: a customer's entire record exports in one click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Right to erasure: personal data is anonymised,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financial records retained by law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Birth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year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is not stored — only day and month (data minimisation)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13 reports · 3 formats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With guaranteed Turkish character rendering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Sales: daily summary · products and categories · payment mix · forecast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Wine: profitability · glass vs bottle · cellar 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Inventory: waste analysis · stock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Operations: table turnover · staff performance · menu engineering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AI: cost and token usage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PDF · Excel · CSV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ç ğ ı İ ö ş ü render correctly in all three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How Turkish characters are guaranteed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Where most systems break silently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Format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The problem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Wine House solution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CSV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Excel opens the file with the wrong encoding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Written with a UTF-8 BOM; survives a double-click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Excel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Numbers written as text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Numbers stay numeric; locale-aware number and date formats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PDF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Built-in fonts do not cover Turkish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A system TrueType font is located and </a:t>
            </a:r>
            <a:r>
              <a:rPr sz="1150" b="1">
                <a:solidFill>
                  <a:srgbClr val="C8A45C"/>
                </a:solidFill>
                <a:latin typeface="DejaVu Sans"/>
              </a:rPr>
              <a:t>embedded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PDF (no font)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Silently corrupt output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An explicit error is raised — no broken PDF is produced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Artificial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An assistant, not an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31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Provider-agnostic architecture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Never locked to a single vendor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LM Studio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(local)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Anthropic Claude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NVIDIA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·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Mock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(offline testing)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Model names are never hard-coded — always read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live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from the provider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Task-aware model selection: chat, coding, vision, analytical, embedding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Timeouts, retries, exponential backoff, request cancellation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Fallback chain: if one provider fails, the next is tried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Mock always sits last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the AI flow never brings the app down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Privacy: what reaches the cloud?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The user always sees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Default behaviour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The default provider is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local</a:t>
            </a:r>
            <a:r>
              <a:rPr sz="1250" b="0">
                <a:solidFill>
                  <a:srgbClr val="F2EAEC"/>
                </a:solidFill>
                <a:latin typeface="DejaVu Sans"/>
              </a:rPr>
              <a:t> LM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Customer data never leaves the premises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`Local only` mode disables the cloud entirely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Exceeding the monthly cost cap blocks cloud calls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If a cloud call is needed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Email, phone, national ID, IBAN, card number are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masked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API keys are never transmitted under any circumstance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The user sees </a:t>
            </a:r>
            <a:r>
              <a:rPr sz="1250" b="1">
                <a:solidFill>
                  <a:srgbClr val="C8A45C"/>
                </a:solidFill>
                <a:latin typeface="DejaVu Sans"/>
              </a:rPr>
              <a:t>exactly what was sent</a:t>
            </a:r>
            <a:r>
              <a:rPr sz="1250" b="0">
                <a:solidFill>
                  <a:srgbClr val="F2EAEC"/>
                </a:solidFill>
                <a:latin typeface="DejaVu Sans"/>
              </a:rPr>
              <a:t> on screen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 summary reports how many items of each type were masked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AI cannot write to the database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A hard boundary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Every suggestion is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persisted as a record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and awaits human approval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No price, stock, menu item or pairing changes without that approval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Sommelier suggestions are drawn only from wines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currently in stock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The system prompt explicitly forbids health claims and medical advice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The 18+ limit and responsible consumption appear on every suggestion screen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Every call is logged: provider, model, tokens, cost, latency, outcome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Security and Quality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35 / 57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19 roles · least privilege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Everyone sees only their own job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70296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44450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Role</a:t>
            </a:r>
          </a:p>
        </p:txBody>
      </p:sp>
      <p:sp>
        <p:nvSpPr>
          <p:cNvPr id="6" name="Rectangle 5"/>
          <p:cNvSpPr/>
          <p:nvPr/>
        </p:nvSpPr>
        <p:spPr>
          <a:xfrm>
            <a:off x="3535070" y="2011680"/>
            <a:ext cx="2490825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81374" y="2144450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Permissions</a:t>
            </a:r>
          </a:p>
        </p:txBody>
      </p:sp>
      <p:sp>
        <p:nvSpPr>
          <p:cNvPr id="8" name="Rectangle 7"/>
          <p:cNvSpPr/>
          <p:nvPr/>
        </p:nvSpPr>
        <p:spPr>
          <a:xfrm>
            <a:off x="6080760" y="2011680"/>
            <a:ext cx="5248656" cy="603504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27064" y="2144450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Cannot do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267004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79074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Waiter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35070" y="267004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81374" y="279074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18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80760" y="267004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27064" y="279074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Cellar management · user creation · day close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31012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43082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Sommelier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535070" y="331012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81374" y="343082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41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80760" y="331012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27064" y="343082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Day close · taking payment · staff management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77240" y="395020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544" y="407090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Cashier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35070" y="395020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81374" y="407090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80760" y="395020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407090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Menu changes · stock adjustments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590288"/>
            <a:ext cx="270296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471098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Auditor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35070" y="4590288"/>
            <a:ext cx="2490825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81374" y="471098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101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080760" y="4590288"/>
            <a:ext cx="5248656" cy="603504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27064" y="471098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No write operations at all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77240" y="5230368"/>
            <a:ext cx="270296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351068"/>
            <a:ext cx="244693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System administrator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35070" y="5230368"/>
            <a:ext cx="2490825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81374" y="5351068"/>
            <a:ext cx="2234793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519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5230368"/>
            <a:ext cx="5248656" cy="603504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27064" y="5351068"/>
            <a:ext cx="4992624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Second approval and audit log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Separation of duties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5030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Critical operations need approval: voids, refunds, over-limit discounts, comps, stock adjustments, restores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086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624328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C8A45C"/>
                </a:solidFill>
                <a:latin typeface="DejaVu Sans"/>
              </a:rPr>
              <a:t>A user cannot approve their own request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46703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282696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Without approval the operation is not applied — a request is raised and the process stops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12540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941063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The audit log is </a:t>
            </a:r>
            <a:r>
              <a:rPr sz="1600" b="1">
                <a:solidFill>
                  <a:srgbClr val="C8A45C"/>
                </a:solidFill>
                <a:latin typeface="DejaVu Sans"/>
              </a:rPr>
              <a:t>immutable and undeletable</a:t>
            </a:r>
            <a:r>
              <a:rPr sz="1600" b="0">
                <a:solidFill>
                  <a:srgbClr val="F2EAEC"/>
                </a:solidFill>
                <a:latin typeface="DejaVu Sans"/>
              </a:rPr>
              <a:t> — enforced in code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78377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599431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Permission denials are logged too; unauthorised attempts are traceable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5442143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5257799"/>
            <a:ext cx="1024128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F2EAEC"/>
                </a:solidFill>
                <a:latin typeface="DejaVu Sans"/>
              </a:rPr>
              <a:t>Records past their retention period are archived before removal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Backup and restore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A backup is not a backup until a restore is proven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25065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70432" y="1965960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Encrypted ZIP archive + SHA-256 integrity digest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3299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2534194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Every backup is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verified automatically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after creation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261534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70432" y="3102428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Restores require second approval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829768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670662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An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automatic safety backup</a:t>
            </a:r>
            <a:r>
              <a:rPr sz="1450" b="0">
                <a:solidFill>
                  <a:srgbClr val="F2EAEC"/>
                </a:solidFill>
                <a:latin typeface="DejaVu Sans"/>
              </a:rPr>
              <a:t> is taken before writing to the live database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398002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238897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The default target is the test database — drills are possible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966237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807131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The retention policy </a:t>
            </a:r>
            <a:r>
              <a:rPr sz="1450" b="1">
                <a:solidFill>
                  <a:srgbClr val="C8A45C"/>
                </a:solidFill>
                <a:latin typeface="DejaVu Sans"/>
              </a:rPr>
              <a:t>always keeps at least three backups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534471"/>
            <a:ext cx="76200" cy="762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5375365"/>
            <a:ext cx="10241280" cy="56823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450" b="0">
                <a:solidFill>
                  <a:srgbClr val="F2EAEC"/>
                </a:solidFill>
                <a:latin typeface="DejaVu Sans"/>
              </a:rPr>
              <a:t>Daily automated backup via Windows Task Scheduler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Quality indicators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Measured and reported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380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tests · all passing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292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1292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3237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73%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line coverage (all code)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48600" y="201168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48600" y="201168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68056" y="219456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known runtime dependency vulnerabilities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6695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high/medium static-analysis findings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1292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92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3237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0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secret-scan findings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848600" y="3703320"/>
            <a:ext cx="3334512" cy="150876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848600" y="3703320"/>
            <a:ext cx="50800" cy="150876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8056" y="3886200"/>
            <a:ext cx="2968752" cy="12344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C8A45C"/>
                </a:solidFill>
                <a:latin typeface="DejaVu Sans"/>
              </a:rPr>
              <a:t>23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database migrations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779008"/>
            <a:ext cx="106070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All figures are measured from the repository at release time: pytest, coverage, pip-audit/osv-scanner (runtime dependencies), bandit and semgrep (medium+), gitleaks. Details: PUBLIC_RELEASE_MANIFEST.json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Technical profile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3127248" cy="4572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23544" y="21122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3959352" y="2011680"/>
            <a:ext cx="7370063" cy="4572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05656" y="21122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DejaVu Sans"/>
              </a:rPr>
              <a:t>Choice</a:t>
            </a:r>
          </a:p>
        </p:txBody>
      </p:sp>
      <p:sp>
        <p:nvSpPr>
          <p:cNvPr id="8" name="Rectangle 7"/>
          <p:cNvSpPr/>
          <p:nvPr/>
        </p:nvSpPr>
        <p:spPr>
          <a:xfrm>
            <a:off x="777240" y="2523744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Language / framework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59352" y="2523744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05656" y="261518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Python 3.11+ · Django 5.2 · Django REST Framework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3017520"/>
            <a:ext cx="3127248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10896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Database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59352" y="3017520"/>
            <a:ext cx="7370063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05656" y="310896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SQLite (WAL) · optional PostgreSQL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3511296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" y="3602736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Interface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9352" y="3511296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05656" y="3602736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Bootstrap 5.3 + HTMX — </a:t>
            </a:r>
            <a:r>
              <a:rPr sz="1150" b="1">
                <a:solidFill>
                  <a:srgbClr val="C8A45C"/>
                </a:solidFill>
                <a:latin typeface="DejaVu Sans"/>
              </a:rPr>
              <a:t>bundled locally, no CDN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4005072"/>
            <a:ext cx="3127248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4096512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Encryption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59352" y="4005072"/>
            <a:ext cx="7370063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05656" y="4096512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Fernet (AES-128-CBC + HMAC-SHA256)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498848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90288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Reporting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59352" y="4498848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05656" y="4590288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ReportLab (PDF) · openpyxl (Excel)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992624"/>
            <a:ext cx="3127248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3544" y="5084064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Artificial intelligence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59352" y="4992624"/>
            <a:ext cx="7370063" cy="457200"/>
          </a:xfrm>
          <a:prstGeom prst="rect">
            <a:avLst/>
          </a:prstGeom>
          <a:solidFill>
            <a:srgbClr val="2E1A21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05656" y="5084064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Custom httpx-based adapter layer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77240" y="5486400"/>
            <a:ext cx="3127248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577840"/>
            <a:ext cx="28712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1">
                <a:solidFill>
                  <a:srgbClr val="C8A45C"/>
                </a:solidFill>
                <a:latin typeface="DejaVu Sans"/>
              </a:rPr>
              <a:t>Installation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959352" y="5486400"/>
            <a:ext cx="7370063" cy="457200"/>
          </a:xfrm>
          <a:prstGeom prst="rect">
            <a:avLst/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05656" y="5577840"/>
            <a:ext cx="7114031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F2EAEC"/>
                </a:solidFill>
                <a:latin typeface="DejaVu Sans"/>
              </a:rPr>
              <a:t>A single PowerShell script · double-clickable .bat files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An honest status report</a:t>
            </a:r>
          </a:p>
          <a:p>
            <a:pPr algn="l">
              <a:spcAft>
                <a:spcPts val="0"/>
              </a:spcAft>
            </a:pPr>
            <a:r>
              <a:rPr sz="1400" b="0">
                <a:solidFill>
                  <a:srgbClr val="B9A7AE"/>
                </a:solidFill>
                <a:latin typeface="DejaVu Sans"/>
              </a:rPr>
              <a:t>No unfinished feature is presented as finished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965960"/>
            <a:ext cx="4919472" cy="50800"/>
          </a:xfrm>
          <a:prstGeom prst="rect">
            <a:avLst/>
          </a:prstGeom>
          <a:solidFill>
            <a:srgbClr val="9B4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Ready and working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Floor operations · KDS · payment · day close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Wine cellar · by-the-glass service · yield analysis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Inventory · purchasing · waste · stock counts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CRM · GDPR · staff · 13 reports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AI layer · backups · 19 roles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965960"/>
            <a:ext cx="4919472" cy="3657600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1965960"/>
            <a:ext cx="4919472" cy="50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766559" y="2212848"/>
            <a:ext cx="4389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C8A45C"/>
                </a:solidFill>
                <a:latin typeface="DejaVu Sans"/>
              </a:rPr>
              <a:t>Experimental or planned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66559" y="2761488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Live payment and e-invoicing (adapter only)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59" y="3328416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Thermal printer driver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59" y="3895344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Bulk email/SMS dispatch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4462272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Cellar sensor integration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5029200"/>
            <a:ext cx="443484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·  Label image analysis · multi-terminal sync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779008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Every feature carries a badge in the application: Ready · Experimental · Planned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514600"/>
            <a:ext cx="12191969" cy="18288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77240" y="2514600"/>
            <a:ext cx="63500" cy="18288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2834640"/>
            <a:ext cx="9601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4000" b="1">
                <a:solidFill>
                  <a:srgbClr val="F2EAEC"/>
                </a:solidFill>
                <a:latin typeface="DejaVu Sans"/>
              </a:rPr>
              <a:t>Screens from 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611880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C8A45C"/>
                </a:solidFill>
                <a:latin typeface="DejaVu Sans"/>
              </a:rPr>
              <a:t>Real interface · synthetic demo data · v0.1.0 · UI shown in Turkish (EN toggle built in)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63040"/>
            <a:ext cx="3657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B9A7AE"/>
                </a:solidFill>
                <a:latin typeface="DejaVu Sans"/>
              </a:rPr>
              <a:t>42 / 57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Sign-in screen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Password or quick PIN sign-in · role-based access starts with 19 roles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Main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Tables, open orders, reservations, cellar and sales at a glance; experimental features are clearly badged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Table 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asa-pla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Live table status by section with links to open orders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Orders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adi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Order management with price freezing, line voids, discounts and approvals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Reservations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ezervasyon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Conflict checking, capacity control and waitlist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Kitchen display (KDS)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ds-mutf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Station separation, ticket progression, delay warnings and allergen flags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Wine cellar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arap-kav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Bottle and by-the-glass stock, drinking windows and pricing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Cellar valuation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kav-degerl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Financial snapshot of the cellar at cost and list value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Menu and recipes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men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Menu management with portion cost, allergens and nutrition labels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Inventory and purchasing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t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FIFO/FEFO lot tracking, receiving, stock counts and waste flows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Customer relations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Consent management, export, anonymisation and loyalty — GDPR flows built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Reports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apor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13 ready-made reports · PDF, Excel and CSV export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AI assistant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yapay-zek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Local-first providers, masking and budget control; it advises, never decides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5669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1">
                <a:solidFill>
                  <a:srgbClr val="F2EAEC"/>
                </a:solidFill>
                <a:latin typeface="DejaVu Sans"/>
              </a:rPr>
              <a:t>Training centre</a:t>
            </a:r>
          </a:p>
        </p:txBody>
      </p:sp>
      <p:sp>
        <p:nvSpPr>
          <p:cNvPr id="3" name="Rectangle 2"/>
          <p:cNvSpPr/>
          <p:nvPr/>
        </p:nvSpPr>
        <p:spPr>
          <a:xfrm>
            <a:off x="777240" y="1572768"/>
            <a:ext cx="137160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15437" y="1801368"/>
            <a:ext cx="6558076" cy="4133087"/>
          </a:xfrm>
          <a:prstGeom prst="roundRect">
            <a:avLst>
              <a:gd name="adj" fmla="val 6000"/>
            </a:avLst>
          </a:prstGeom>
          <a:solidFill>
            <a:srgbClr val="241419"/>
          </a:solidFill>
          <a:ln w="12700">
            <a:solidFill>
              <a:srgbClr val="3D25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egiti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1157" y="1847088"/>
            <a:ext cx="6466636" cy="40416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016751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>
                <a:solidFill>
                  <a:srgbClr val="B9A7AE"/>
                </a:solidFill>
                <a:latin typeface="DejaVu Sans"/>
              </a:rPr>
              <a:t>Role-based staff training modules and lessons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223760" y="-1097280"/>
            <a:ext cx="6400800" cy="9144000"/>
          </a:xfrm>
          <a:prstGeom prst="rect">
            <a:avLst/>
          </a:prstGeom>
          <a:solidFill>
            <a:srgbClr val="2414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965960"/>
            <a:ext cx="65836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6000" b="1">
                <a:solidFill>
                  <a:srgbClr val="C8A45C"/>
                </a:solidFill>
                <a:latin typeface="DejaVu Sans"/>
              </a:rPr>
              <a:t>Wine House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154680"/>
            <a:ext cx="6400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>
                <a:solidFill>
                  <a:srgbClr val="F2EAEC"/>
                </a:solidFill>
                <a:latin typeface="DejaVu Sans"/>
              </a:rPr>
              <a:t>Smart Wine Restaurant Management System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1920240"/>
            <a:ext cx="3749039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Runs locally · resilient offline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Freezes financial records and leaves an audit trail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Deducts by-the-glass sales from stock correctly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Makes AI an assistant, never an authority</a:t>
            </a:r>
          </a:p>
          <a:p>
            <a:pPr algn="l">
              <a:spcAft>
                <a:spcPts val="1100"/>
              </a:spcAft>
            </a:pPr>
            <a:r>
              <a:rPr sz="1250" b="0">
                <a:solidFill>
                  <a:srgbClr val="F2EAEC"/>
                </a:solidFill>
                <a:latin typeface="DejaVu Sans"/>
              </a:rPr>
              <a:t>◆  Encrypts and masks personal data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4709160"/>
            <a:ext cx="2011680" cy="38100"/>
          </a:xfrm>
          <a:prstGeom prst="rect">
            <a:avLst/>
          </a:prstGeom>
          <a:solidFill>
            <a:srgbClr val="C8A4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983480"/>
            <a:ext cx="6400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B9A7AE"/>
                </a:solidFill>
                <a:latin typeface="DejaVu Sans"/>
              </a:rPr>
              <a:t>Version 0.1.0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B9A7AE"/>
                </a:solidFill>
                <a:latin typeface="DejaVu Sans"/>
              </a:rPr>
              <a:t>Wine House · Aziz Şekerdil ·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0" y="6327648"/>
            <a:ext cx="960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spcAft>
                <a:spcPts val="0"/>
              </a:spcAft>
            </a:pPr>
            <a:r>
              <a:rPr sz="1000" b="0">
                <a:solidFill>
                  <a:srgbClr val="B9A7AE"/>
                </a:solidFill>
                <a:latin typeface="DejaVu Sans"/>
              </a:rPr>
              <a:t>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Wine House — Introduction</dc:title>
  <dc:subject>Smart Wine Restaurant Management System</dc:subject>
  <dc:creator>Aziz Şekerdil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